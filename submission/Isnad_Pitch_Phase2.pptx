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17"/>
    <p:sldId id="257" r:id="rId3"/>
    <p:sldId id="258" r:id="rId4"/>
    <p:sldId id="259" r:id="rId5"/>
    <p:sldId id="260" r:id="rId6"/>
    <p:sldId id="261" r:id="rId7"/>
    <p:sldId id="267" r:id="rId18"/>
    <p:sldId id="262" r:id="rId8"/>
    <p:sldId id="268" r:id="rId19"/>
    <p:sldId id="263" r:id="rId9"/>
    <p:sldId id="269" r:id="rId20"/>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1.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2.xml"/><Relationship Id="rId18" Type="http://schemas.openxmlformats.org/officeDocument/2006/relationships/slide" Target="slides/slide8.xml"/><Relationship Id="rId19" Type="http://schemas.openxmlformats.org/officeDocument/2006/relationships/slide" Target="slides/slide10.xml"/><Relationship Id="rId2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Isnad, Theme 4. Two-person team from PSUT in Amman. One line: a replaced SIM should start a check, not end a customer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 is cheap and wrong. A SIM change on its own cannot tell a takeover from a customer who lost a phone, so declining on it alone pays for both mistakes: the fraud it misses elsewhere, and the customers it turns away. No market-share figure is claimed on this slide; we have no dated primary source for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Deliberately narrowed. We do not claim generative AI has broken EVERY soft proof, that physical signals are impossible to fake, or that CAMARA is the first programmable network evidence — none of those has a dated source we can show. The defensible claim is that a network check contributes a different KIND of evidence, and that we can demonstrate it end to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is not decoration. It describes the data structure the engine actually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requirement judges score hardest. The boundary is visible in the product, not just claimed in a README. Two independent recordings show it. The trace on this slide is the 7 September local run. The 9 September deployed smoke recorded it again against real Nokia calls: in the adverse (swapped_subscriber) run, journal_decisions shows sim_swap with planner 'llm' and device_swap with planner 'policy', rationale 'corroborate before this signal alone can decline'. Be precise if asked: in the paired stable_subscriber run the model chose both checks and then stopped, so it is the adverse case that demonstrates the override. A third file, 2026-09-09-judge-gemini-journal.json, shows the same seq-by-seq boundary but was recorded locally on the mock source, so it cost nothing and is not deployed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with a working adapter. Four exercised against Nokia's hosted simulator on 6 September; the rest against the sandbox on 30 August. All recorded, failures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1,605 is 1,458 non-browser plus 147 browser checks, run on 11 September 2026 after the judge API-key page shipped; the 9 September release review was 1,442 plus 135, and docs/RELEASE_VALIDATION_2026-09-09.md lists both. The third command line is the /api-keys page: a judge enters the organizer code, receives a merchant key once, and the page prints the guide's curl request filled in. The key drives the deployment's mock provider only and is refused where the default provider bills. The 28 Nokia attempts are 14 standalone probe calls on 6 September plus 14 made by the application itself on 9 September — ten local and four from the deployed page. A probe proves the credential; only an application run proves the integration. Ten of those 14 have a per-attempt HTTP 200 recorded; for the other four the status was not separately captured, and the file claims only what is provable — each carries a normalized signal sourced nac, which the pipeline produces only from a 2xx whose body parsed. Every one of the runs ended in a signed receipt. 49 vs 78 is an OPERATION COUNT on a 13-case authored synthetic set. It is not money: policy.yaml's costs are normalized budget units the engine uses to rank checks, not Nokia's prices, and nothing in the repository converts one to the other. The structural argument is that a pipeline running every API spends the same on a clean checkout as on a suspicious one, and an agent that stops when the answer is justified does not.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as a hypothesis, because that is what it is. Every row here is the shape of the business we intend, and none of it is measured: there are no merchant outcomes, no operator prices and no revenue data in this repository. docs/MERCHANT_PILOT_PLAN.md is the protocol for getting them, written before the results are known, and it starts in shadow mode so no real customer decision changes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a judge finds it. An engine whose entire argument is provenance does not get to be vague about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name.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running page, captured by the browser test suite (tests/browser/test_surfaces.py writes docs/ui/release/judge-en-replacement-1440.png on every run), cropped to the two decision cards. Re-cropped on 10 September against the current build, so the Evidence source panel, the Custom mock scenarios grouping and the merchant review panel that shipped on 9 September are all visible here. Operator answers are simulated and each row says so; the signature proves what Isnad issued, never that an operator told the truth.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the point. A fixed pipeline runs every API; this one asks what the hypothesis makes relevant, buys the cheapest useful answer, and stops when policy is satisfied. Two separations matter and both are in the code: the planner never decides what an answer means, and the provider adapter normalizes Nokia, the hosted simulator and the mock into the same evidence shape so a demo cannot quietly become a different code path. Congestion Insights is deliberately outside the scoring path. The full map is the Repository map table in 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limit out loud before a judge asks. The business model is a shape, not a forecast: there is no operator price list in this repository, no merchant contract and no revenue data, so any dollar figure on this slide would be invented. What IS defensible is the structural argument — per-decision pricing only survives thin COD margins if the cost of serving a decision varies with its difficulty, which is exactly what the budgeted agent does. docs/MERCHANT_PILOT_PLAN.md is the protocol for getting the missing numbers, written before the results are known, and it starts in shadow mode so no real customer decision changes first.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people, both across the stack. If asked who wrote what: the areas above describe emphasis rather than a hard split, and the working history is available to the panel on request. The tooling line matters for the mandatory-requirement check — one approved provider, no agent framework, and the Gemini adapter is plain httpx so a missing vendor SDK cannot silently turn an LLM run into a greedy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20"/>
        </a:solidFill>
      </p:bgPr>
    </p:bg>
    <p:spTree>
      <p:nvGrpSpPr>
        <p:cNvPr id="1" name=""/>
        <p:cNvGrpSpPr/>
        <p:nvPr/>
      </p:nvGrpSpPr>
      <p:grpSpPr>
        <a:xfrm>
          <a:off x="0" y="0"/>
          <a:ext cx="0" cy="0"/>
          <a:chOff x="0" y="0"/>
          <a:chExt cx="0" cy="0"/>
        </a:xfrm>
      </p:grpSpPr>
      <p:sp>
        <p:nvSpPr>
          <p:cNvPr id="2" name="Text 0"/>
          <p:cNvSpPr txBox="1"/>
          <p:nvPr/>
        </p:nvSpPr>
        <p:spPr>
          <a:xfrm>
            <a:off x="640080" y="1463040"/>
            <a:ext cx="7315200" cy="731520"/>
          </a:xfrm>
          <a:prstGeom prst="rect">
            <a:avLst/>
          </a:prstGeom>
          <a:noFill/>
          <a:ln/>
        </p:spPr>
        <p:txBody>
          <a:bodyPr wrap="square" lIns="0" tIns="0" rIns="0" bIns="0" rtlCol="0" anchor="ctr"/>
          <a:lstStyle/>
          <a:p>
            <a:pPr indent="0" marL="0">
              <a:buNone/>
            </a:pPr>
            <a:r>
              <a:rPr lang="en-US" sz="4000" dirty="0">
                <a:solidFill>
                  <a:srgbClr val="E5BB59"/>
                </a:solidFill>
                <a:latin typeface="Calibri" pitchFamily="34" charset="0"/>
                <a:ea typeface="Calibri" pitchFamily="34" charset="-122"/>
                <a:cs typeface="Calibri" pitchFamily="34" charset="-120"/>
              </a:rPr>
              <a:t>إسناد</a:t>
            </a:r>
            <a:pPr indent="0" marL="0">
              <a:buNone/>
            </a:pPr>
            <a:r>
              <a:rPr lang="en-US" sz="4000" b="1" dirty="0">
                <a:solidFill>
                  <a:srgbClr val="EEF2FF"/>
                </a:solidFill>
                <a:latin typeface="Cambria" pitchFamily="34" charset="0"/>
                <a:ea typeface="Cambria" pitchFamily="34" charset="-122"/>
                <a:cs typeface="Cambria" pitchFamily="34" charset="-120"/>
              </a:rPr>
              <a:t>   Isnad</a:t>
            </a:r>
            <a:endParaRPr lang="en-US" sz="4000" dirty="0"/>
          </a:p>
        </p:txBody>
      </p:sp>
      <p:sp>
        <p:nvSpPr>
          <p:cNvPr id="3" name="Text 1"/>
          <p:cNvSpPr txBox="1"/>
          <p:nvPr/>
        </p:nvSpPr>
        <p:spPr>
          <a:xfrm>
            <a:off x="640080" y="2331720"/>
            <a:ext cx="10241280" cy="658368"/>
          </a:xfrm>
          <a:prstGeom prst="rect">
            <a:avLst/>
          </a:prstGeom>
          <a:noFill/>
          <a:ln/>
        </p:spPr>
        <p:txBody>
          <a:bodyPr wrap="square" lIns="0" tIns="0" rIns="0" bIns="0" rtlCol="0" anchor="ctr"/>
          <a:lstStyle/>
          <a:p>
            <a:pPr indent="0" marL="0">
              <a:buNone/>
            </a:pPr>
            <a:r>
              <a:rPr lang="en-US" sz="3800" b="1" dirty="0">
                <a:solidFill>
                  <a:srgbClr val="EEF2FF"/>
                </a:solidFill>
                <a:latin typeface="Cambria" pitchFamily="34" charset="0"/>
                <a:ea typeface="Cambria" pitchFamily="34" charset="-122"/>
                <a:cs typeface="Cambria" pitchFamily="34" charset="-120"/>
              </a:rPr>
              <a:t>A replaced SIM should start a check,</a:t>
            </a:r>
            <a:endParaRPr lang="en-US" sz="3800" dirty="0"/>
          </a:p>
        </p:txBody>
      </p:sp>
      <p:sp>
        <p:nvSpPr>
          <p:cNvPr id="4" name="Text 2"/>
          <p:cNvSpPr txBox="1"/>
          <p:nvPr/>
        </p:nvSpPr>
        <p:spPr>
          <a:xfrm>
            <a:off x="640080" y="2944368"/>
            <a:ext cx="10241280" cy="658368"/>
          </a:xfrm>
          <a:prstGeom prst="rect">
            <a:avLst/>
          </a:prstGeom>
          <a:noFill/>
          <a:ln/>
        </p:spPr>
        <p:txBody>
          <a:bodyPr wrap="square" lIns="0" tIns="0" rIns="0" bIns="0" rtlCol="0" anchor="ctr"/>
          <a:lstStyle/>
          <a:p>
            <a:pPr indent="0" marL="0">
              <a:buNone/>
            </a:pPr>
            <a:r>
              <a:rPr lang="en-US" sz="3800" b="1" dirty="0">
                <a:solidFill>
                  <a:srgbClr val="AAB5D4"/>
                </a:solidFill>
                <a:latin typeface="Cambria" pitchFamily="34" charset="0"/>
                <a:ea typeface="Cambria" pitchFamily="34" charset="-122"/>
                <a:cs typeface="Cambria" pitchFamily="34" charset="-120"/>
              </a:rPr>
              <a:t>not end a customer relationship.</a:t>
            </a:r>
            <a:endParaRPr lang="en-US" sz="3800" dirty="0"/>
          </a:p>
        </p:txBody>
      </p:sp>
      <p:sp>
        <p:nvSpPr>
          <p:cNvPr id="5" name="Text 3"/>
          <p:cNvSpPr txBox="1"/>
          <p:nvPr/>
        </p:nvSpPr>
        <p:spPr>
          <a:xfrm>
            <a:off x="640080" y="3794760"/>
            <a:ext cx="7863840" cy="640080"/>
          </a:xfrm>
          <a:prstGeom prst="rect">
            <a:avLst/>
          </a:prstGeom>
          <a:noFill/>
          <a:ln/>
        </p:spPr>
        <p:txBody>
          <a:bodyPr wrap="square" lIns="0" tIns="0" rIns="0" bIns="0" rtlCol="0" anchor="ctr"/>
          <a:lstStyle/>
          <a:p>
            <a:pPr indent="0" marL="0">
              <a:lnSpc>
                <a:spcPts val="2200"/>
              </a:lnSpc>
              <a:buNone/>
            </a:pPr>
            <a:r>
              <a:rPr lang="en-US" sz="1500" dirty="0">
                <a:solidFill>
                  <a:srgbClr val="AAB5D4"/>
                </a:solidFill>
                <a:latin typeface="Calibri" pitchFamily="34" charset="0"/>
                <a:ea typeface="Calibri" pitchFamily="34" charset="-122"/>
                <a:cs typeface="Calibri" pitchFamily="34" charset="-120"/>
              </a:rPr>
              <a:t>An agentic trust engine on GSMA Open Gateway CAMARA APIs and the Nokia Network-as-Code platform.</a:t>
            </a:r>
            <a:endParaRPr lang="en-US" sz="1500" dirty="0"/>
          </a:p>
        </p:txBody>
      </p:sp>
      <p:sp>
        <p:nvSpPr>
          <p:cNvPr id="6" name="Text 4"/>
          <p:cNvSpPr txBox="1"/>
          <p:nvPr/>
        </p:nvSpPr>
        <p:spPr>
          <a:xfrm>
            <a:off x="640080" y="4937760"/>
            <a:ext cx="7315200" cy="640080"/>
          </a:xfrm>
          <a:prstGeom prst="rect">
            <a:avLst/>
          </a:prstGeom>
          <a:noFill/>
          <a:ln/>
        </p:spPr>
        <p:txBody>
          <a:bodyPr wrap="square" lIns="0" tIns="0" rIns="0" bIns="0" rtlCol="0" anchor="ctr"/>
          <a:lstStyle/>
          <a:p>
            <a:pPr indent="0" marL="0">
              <a:lnSpc>
                <a:spcPts val="1800"/>
              </a:lnSpc>
              <a:buNone/>
            </a:pPr>
            <a:r>
              <a:rPr lang="en-US" sz="1250" b="1" dirty="0">
                <a:solidFill>
                  <a:srgbClr val="EEF2FF"/>
                </a:solidFill>
                <a:latin typeface="Calibri" pitchFamily="34" charset="0"/>
                <a:ea typeface="Calibri" pitchFamily="34" charset="-122"/>
                <a:cs typeface="Calibri" pitchFamily="34" charset="-120"/>
              </a:rPr>
              <a:t>Ahmad Shadeed</a:t>
            </a:r>
            <a:pPr indent="0" marL="0">
              <a:lnSpc>
                <a:spcPts val="1800"/>
              </a:lnSpc>
              <a:buNone/>
            </a:pPr>
            <a:r>
              <a:rPr lang="en-US" sz="1250" dirty="0">
                <a:solidFill>
                  <a:srgbClr val="AAB5D4"/>
                </a:solidFill>
                <a:latin typeface="Calibri" pitchFamily="34" charset="0"/>
                <a:ea typeface="Calibri" pitchFamily="34" charset="-122"/>
                <a:cs typeface="Calibri" pitchFamily="34" charset="-120"/>
              </a:rPr>
              <a:t>  ·  Yousef Al Masri
</a:t>
            </a:r>
            <a:pPr indent="0" marL="0">
              <a:lnSpc>
                <a:spcPts val="1800"/>
              </a:lnSpc>
              <a:buNone/>
            </a:pPr>
            <a:r>
              <a:rPr lang="en-US" sz="1250" dirty="0">
                <a:solidFill>
                  <a:srgbClr val="AAB5D4"/>
                </a:solidFill>
                <a:latin typeface="Calibri" pitchFamily="34" charset="0"/>
                <a:ea typeface="Calibri" pitchFamily="34" charset="-122"/>
                <a:cs typeface="Calibri" pitchFamily="34" charset="-120"/>
              </a:rPr>
              <a:t>Princess Sumaya University for Technology, Amman, Jordan</a:t>
            </a:r>
            <a:endParaRPr lang="en-US" sz="1250" dirty="0"/>
          </a:p>
        </p:txBody>
      </p:sp>
      <p:sp>
        <p:nvSpPr>
          <p:cNvPr id="7" name="Text 5"/>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AAB5D4"/>
                </a:solidFill>
                <a:latin typeface="Courier New" pitchFamily="34" charset="0"/>
                <a:ea typeface="Courier New" pitchFamily="34" charset="-122"/>
                <a:cs typeface="Courier New" pitchFamily="34" charset="-120"/>
              </a:rPr>
              <a:t>MENA IGNITE HACKATHON 2026  ·  THEME 4 — SECURE FINTECH, PAYMENTS &amp; ANTI-FRAUD  ·  PROTOTYPE PHASE</a:t>
            </a:r>
            <a:endParaRPr lang="en-US" sz="95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20"/>
        </a:solidFill>
      </p:bgPr>
    </p:bg>
    <p:spTree>
      <p:nvGrpSpPr>
        <p:cNvPr id="1" name=""/>
        <p:cNvGrpSpPr/>
        <p:nvPr/>
      </p:nvGrpSpPr>
      <p:grpSpPr/>
      <p:pic>
        <p:nvPicPr>
          <p:cNvPr id="7" name="Picture 6" descr="judge-crop-2026-09-10.png"/>
          <p:cNvPicPr>
            <a:picLocks noChangeAspect="1"/>
          </p:cNvPicPr>
          <p:nvPr/>
        </p:nvPicPr>
        <p:blipFill>
          <a:blip r:embed="rId4"/>
          <a:stretch>
            <a:fillRect/>
          </a:stretch>
        </p:blipFill>
        <p:spPr>
          <a:xfrm>
            <a:off x="640080" y="1700784"/>
            <a:ext cx="4846320" cy="4617720"/>
          </a:xfrm>
          <a:prstGeom prst="rect">
            <a:avLst/>
          </a:prstGeom>
        </p:spPr>
      </p:pic>
      <p:sp>
        <p:nvSpPr>
          <p:cNvPr id="2" name="TextBox 1"/>
          <p:cNvSpPr txBox="1"/>
          <p:nvPr/>
        </p:nvSpPr>
        <p:spPr>
          <a:xfrm>
            <a:off x="640080" y="502920"/>
            <a:ext cx="10881360" cy="274320"/>
          </a:xfrm>
          <a:prstGeom prst="rect">
            <a:avLst/>
          </a:prstGeom>
          <a:noFill/>
        </p:spPr>
        <p:txBody>
          <a:bodyPr wrap="square">
            <a:spAutoFit/>
          </a:bodyPr>
          <a:lstStyle/>
          <a:p>
            <a:r>
              <a:rPr sz="1100" b="1">
                <a:solidFill>
                  <a:srgbClr val="E5BB59"/>
                </a:solidFill>
                <a:latin typeface="Courier New"/>
              </a:rPr>
              <a:t>THE PRODUCT, NOT A MOCK-UP</a:t>
            </a:r>
          </a:p>
        </p:txBody>
      </p:sp>
      <p:sp>
        <p:nvSpPr>
          <p:cNvPr id="3" name="TextBox 2"/>
          <p:cNvSpPr txBox="1"/>
          <p:nvPr/>
        </p:nvSpPr>
        <p:spPr>
          <a:xfrm>
            <a:off x="640080" y="868680"/>
            <a:ext cx="10881360" cy="914400"/>
          </a:xfrm>
          <a:prstGeom prst="rect">
            <a:avLst/>
          </a:prstGeom>
          <a:noFill/>
        </p:spPr>
        <p:txBody>
          <a:bodyPr wrap="square">
            <a:spAutoFit/>
          </a:bodyPr>
          <a:lstStyle/>
          <a:p>
            <a:r>
              <a:rPr sz="3400" b="1">
                <a:solidFill>
                  <a:srgbClr val="EEF2FF"/>
                </a:solidFill>
                <a:latin typeface="Cambria"/>
              </a:rPr>
              <a:t>One SIM change, investigated in public.</a:t>
            </a:r>
          </a:p>
        </p:txBody>
      </p:sp>
      <p:sp>
        <p:nvSpPr>
          <p:cNvPr id="5" name="TextBox 4"/>
          <p:cNvSpPr txBox="1"/>
          <p:nvPr/>
        </p:nvSpPr>
        <p:spPr>
          <a:xfrm>
            <a:off x="5806440" y="1700000"/>
            <a:ext cx="5715000" cy="3200000"/>
          </a:xfrm>
          <a:prstGeom prst="rect">
            <a:avLst/>
          </a:prstGeom>
          <a:noFill/>
        </p:spPr>
        <p:txBody>
          <a:bodyPr wrap="square">
            <a:spAutoFit/>
          </a:bodyPr>
          <a:lstStyle/>
          <a:p>
            <a:pPr>
              <a:lnSpc>
                <a:spcPts val="1550"/>
              </a:lnSpc>
              <a:spcAft>
                <a:spcPts val="700"/>
              </a:spcAft>
            </a:pPr>
            <a:r>
              <a:rPr sz="1150">
                <a:solidFill>
                  <a:srgbClr val="AAB5D4"/>
                </a:solidFill>
                <a:latin typeface="Calibri"/>
              </a:rPr>
              <a:t>The evidence source is declared before anything runs. Mock is the default and states that no requests are sent to Nokia.</a:t>
            </a:r>
          </a:p>
          <a:p>
            <a:pPr>
              <a:lnSpc>
                <a:spcPts val="1550"/>
              </a:lnSpc>
              <a:spcAft>
                <a:spcPts val="700"/>
              </a:spcAft>
            </a:pPr>
            <a:r>
              <a:rPr sz="1150">
                <a:solidFill>
                  <a:srgbClr val="AAB5D4"/>
                </a:solidFill>
                <a:latin typeface="Calibri"/>
              </a:rPr>
              <a:t>The adverse fact stays in the chain. SIM Swap is listed under ADVERSE EVIDENCE, not averaged away.</a:t>
            </a:r>
          </a:p>
          <a:p>
            <a:pPr>
              <a:lnSpc>
                <a:spcPts val="1550"/>
              </a:lnSpc>
              <a:spcAft>
                <a:spcPts val="700"/>
              </a:spcAft>
            </a:pPr>
            <a:r>
              <a:rPr sz="1150">
                <a:solidFill>
                  <a:srgbClr val="AAB5D4"/>
                </a:solidFill>
                <a:latin typeface="Calibri"/>
              </a:rPr>
              <a:t>Three links corroborate her, so the engine steps up instead of declining — CHALLENGE, at an uncalibrated policy score of 0.322.</a:t>
            </a:r>
          </a:p>
          <a:p>
            <a:pPr>
              <a:lnSpc>
                <a:spcPts val="1550"/>
              </a:lnSpc>
              <a:spcAft>
                <a:spcPts val="700"/>
              </a:spcAft>
            </a:pPr>
            <a:r>
              <a:rPr sz="1150">
                <a:solidFill>
                  <a:srgbClr val="AAB5D4"/>
                </a:solidFill>
                <a:latin typeface="Calibri"/>
              </a:rPr>
              <a:t>Every row states its own source. SIMULATOR · mock fixture is on the face of the evidence, not in a footnote.</a:t>
            </a:r>
          </a:p>
          <a:p>
            <a:pPr>
              <a:lnSpc>
                <a:spcPts val="1550"/>
              </a:lnSpc>
              <a:spcAft>
                <a:spcPts val="700"/>
              </a:spcAft>
            </a:pPr>
            <a:r>
              <a:rPr sz="1150">
                <a:solidFill>
                  <a:srgbClr val="AAB5D4"/>
                </a:solidFill>
                <a:latin typeface="Calibri"/>
              </a:rPr>
              <a:t>The merchant's own review is a separate, separately recorded fact. It does not change the signed decision above it.</a:t>
            </a:r>
          </a:p>
          <a:p>
            <a:pPr>
              <a:lnSpc>
                <a:spcPts val="1550"/>
              </a:lnSpc>
              <a:spcAft>
                <a:spcPts val="700"/>
              </a:spcAft>
            </a:pPr>
            <a:r>
              <a:rPr sz="1150">
                <a:solidFill>
                  <a:srgbClr val="AAB5D4"/>
                </a:solidFill>
                <a:latin typeface="Calibri"/>
              </a:rPr>
              <a:t>The decision is stored as an Ed25519-signed receipt anyone can check after the sale.</a:t>
            </a:r>
          </a:p>
        </p:txBody>
      </p:sp>
      <p:sp>
        <p:nvSpPr>
          <p:cNvPr id="6" name="TextBox 5"/>
          <p:cNvSpPr txBox="1"/>
          <p:nvPr/>
        </p:nvSpPr>
        <p:spPr>
          <a:xfrm>
            <a:off x="5806440" y="5532120"/>
            <a:ext cx="5715000" cy="900000"/>
          </a:xfrm>
          <a:prstGeom prst="rect">
            <a:avLst/>
          </a:prstGeom>
          <a:noFill/>
        </p:spPr>
        <p:txBody>
          <a:bodyPr wrap="square">
            <a:spAutoFit/>
          </a:bodyPr>
          <a:lstStyle/>
          <a:p>
            <a:r>
              <a:rPr sz="1000" b="0">
                <a:solidFill>
                  <a:srgbClr val="5A668F"/>
                </a:solidFill>
                <a:latin typeface="Calibri"/>
              </a:rPr>
              <a:t>Screenshot: /judge on this repository at 1440 px, English, greedy planner, mock provider, 9 September 2026 build. Cropped to the two decision cards; nothing else is altered.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B8860B"/>
                </a:solidFill>
                <a:latin typeface="Courier New" pitchFamily="34" charset="0"/>
                <a:ea typeface="Courier New" pitchFamily="34" charset="-122"/>
                <a:cs typeface="Courier New" pitchFamily="34" charset="-120"/>
              </a:rPr>
              <a:t>THE DEFENCE THAT COSTS MORE THAN THE FRAUD</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16204A"/>
                </a:solidFill>
                <a:latin typeface="Cambria" pitchFamily="34" charset="0"/>
                <a:ea typeface="Cambria" pitchFamily="34" charset="-122"/>
                <a:cs typeface="Cambria" pitchFamily="34" charset="-120"/>
              </a:rPr>
              <a:t>“SIM changed recently → decline.”</a:t>
            </a:r>
            <a:endParaRPr lang="en-US" sz="3400" dirty="0"/>
          </a:p>
        </p:txBody>
      </p:sp>
      <p:sp>
        <p:nvSpPr>
          <p:cNvPr id="4" name="Text 2"/>
          <p:cNvSpPr txBox="1"/>
          <p:nvPr/>
        </p:nvSpPr>
        <p:spPr>
          <a:xfrm>
            <a:off x="640080" y="2057400"/>
            <a:ext cx="6035040" cy="1993392"/>
          </a:xfrm>
          <a:prstGeom prst="rect">
            <a:avLst/>
          </a:prstGeom>
          <a:noFill/>
          <a:ln/>
        </p:spPr>
        <p:txBody>
          <a:bodyPr wrap="square" lIns="0" tIns="0" rIns="0" bIns="0" rtlCol="0" anchor="t"/>
          <a:lstStyle/>
          <a:p>
            <a:pPr marL="342900" indent="-342900">
              <a:lnSpc>
                <a:spcPts val="2250"/>
              </a:lnSpc>
              <a:spcAft>
                <a:spcPts val="800"/>
              </a:spcAft>
              <a:buSzPct val="100000"/>
              <a:buChar char="•"/>
            </a:pPr>
            <a:r>
              <a:rPr lang="en-US" sz="1450" dirty="0">
                <a:solidFill>
                  <a:srgbClr val="5A668F"/>
                </a:solidFill>
                <a:latin typeface="Calibri" pitchFamily="34" charset="0"/>
                <a:ea typeface="Calibri" pitchFamily="34" charset="-122"/>
                <a:cs typeface="Calibri" pitchFamily="34" charset="-120"/>
              </a:rPr>
              <a:t>Cash on delivery leaves no verified commitment at checkout</a:t>
            </a:r>
            <a:endParaRPr lang="en-US" sz="1450" dirty="0"/>
          </a:p>
          <a:p>
            <a:pPr marL="342900" indent="-342900">
              <a:lnSpc>
                <a:spcPts val="2250"/>
              </a:lnSpc>
              <a:spcAft>
                <a:spcPts val="800"/>
              </a:spcAft>
              <a:buSzPct val="100000"/>
              <a:buChar char="•"/>
            </a:pPr>
            <a:r>
              <a:rPr lang="en-US" sz="1450" dirty="0">
                <a:solidFill>
                  <a:srgbClr val="5A668F"/>
                </a:solidFill>
                <a:latin typeface="Calibri" pitchFamily="34" charset="0"/>
                <a:ea typeface="Calibri" pitchFamily="34" charset="-122"/>
                <a:cs typeface="Calibri" pitchFamily="34" charset="-120"/>
              </a:rPr>
              <a:t>A fake order costs a real van, a real driver, a real tank of fuel</a:t>
            </a:r>
            <a:endParaRPr lang="en-US" sz="1450" dirty="0"/>
          </a:p>
          <a:p>
            <a:pPr marL="342900" indent="-342900">
              <a:lnSpc>
                <a:spcPts val="2250"/>
              </a:lnSpc>
              <a:spcAft>
                <a:spcPts val="800"/>
              </a:spcAft>
              <a:buSzPct val="100000"/>
              <a:buChar char="•"/>
            </a:pPr>
            <a:r>
              <a:rPr lang="en-US" sz="1450" dirty="0">
                <a:solidFill>
                  <a:srgbClr val="5A668F"/>
                </a:solidFill>
                <a:latin typeface="Calibri" pitchFamily="34" charset="0"/>
                <a:ea typeface="Calibri" pitchFamily="34" charset="-122"/>
                <a:cs typeface="Calibri" pitchFamily="34" charset="-120"/>
              </a:rPr>
              <a:t>A wrongly declined one costs the same — plus the customer</a:t>
            </a:r>
            <a:endParaRPr lang="en-US" sz="1450" dirty="0"/>
          </a:p>
          <a:p>
            <a:pPr marL="342900" indent="-342900">
              <a:lnSpc>
                <a:spcPts val="2250"/>
              </a:lnSpc>
              <a:spcAft>
                <a:spcPts val="800"/>
              </a:spcAft>
              <a:buSzPct val="100000"/>
              <a:buChar char="•"/>
            </a:pPr>
            <a:r>
              <a:rPr lang="en-US" sz="1450" dirty="0">
                <a:solidFill>
                  <a:srgbClr val="5A668F"/>
                </a:solidFill>
                <a:latin typeface="Calibri" pitchFamily="34" charset="0"/>
                <a:ea typeface="Calibri" pitchFamily="34" charset="-122"/>
                <a:cs typeface="Calibri" pitchFamily="34" charset="-120"/>
              </a:rPr>
              <a:t>A takeover and a replaced lost phone produce the same signal</a:t>
            </a:r>
            <a:endParaRPr lang="en-US" sz="1450" dirty="0"/>
          </a:p>
        </p:txBody>
      </p:sp>
      <p:sp>
        <p:nvSpPr>
          <p:cNvPr id="5" name="Shape 3"/>
          <p:cNvSpPr/>
          <p:nvPr/>
        </p:nvSpPr>
        <p:spPr>
          <a:xfrm>
            <a:off x="7040880" y="2011680"/>
            <a:ext cx="4480560" cy="3017520"/>
          </a:xfrm>
          <a:prstGeom prst="roundRect">
            <a:avLst>
              <a:gd name="adj" fmla="val 2727"/>
            </a:avLst>
          </a:prstGeom>
          <a:solidFill>
            <a:srgbClr val="F4F6FD"/>
          </a:solidFill>
          <a:ln w="12700">
            <a:solidFill>
              <a:srgbClr val="DCE2F2"/>
            </a:solidFill>
            <a:prstDash val="solid"/>
          </a:ln>
        </p:spPr>
      </p:sp>
      <p:sp>
        <p:nvSpPr>
          <p:cNvPr id="6" name="Text 4"/>
          <p:cNvSpPr txBox="1"/>
          <p:nvPr/>
        </p:nvSpPr>
        <p:spPr>
          <a:xfrm>
            <a:off x="7315200" y="2286000"/>
            <a:ext cx="3931920" cy="822960"/>
          </a:xfrm>
          <a:prstGeom prst="rect">
            <a:avLst/>
          </a:prstGeom>
          <a:noFill/>
          <a:ln/>
        </p:spPr>
        <p:txBody>
          <a:bodyPr wrap="square" lIns="0" tIns="0" rIns="0" bIns="0" rtlCol="0" anchor="ctr"/>
          <a:lstStyle/>
          <a:p>
            <a:pPr indent="0" marL="0">
              <a:lnSpc>
                <a:spcPts val="2600"/>
              </a:lnSpc>
              <a:buNone/>
            </a:pPr>
            <a:r>
              <a:rPr lang="en-US" sz="1900" b="1" dirty="0">
                <a:solidFill>
                  <a:srgbClr val="16204A"/>
                </a:solidFill>
                <a:latin typeface="Cambria" pitchFamily="34" charset="0"/>
                <a:ea typeface="Cambria" pitchFamily="34" charset="-122"/>
                <a:cs typeface="Cambria" pitchFamily="34" charset="-120"/>
              </a:rPr>
              <a:t>The signal is real.</a:t>
            </a:r>
            <a:endParaRPr lang="en-US" sz="1900" dirty="0"/>
          </a:p>
          <a:p>
            <a:pPr indent="0" marL="0">
              <a:lnSpc>
                <a:spcPts val="2600"/>
              </a:lnSpc>
              <a:buNone/>
            </a:pPr>
            <a:r>
              <a:rPr lang="en-US" sz="1900" b="1" dirty="0">
                <a:solidFill>
                  <a:srgbClr val="16204A"/>
                </a:solidFill>
                <a:latin typeface="Cambria" pitchFamily="34" charset="0"/>
                <a:ea typeface="Cambria" pitchFamily="34" charset="-122"/>
                <a:cs typeface="Cambria" pitchFamily="34" charset="-120"/>
              </a:rPr>
              <a:t>The verdict is the mistake.</a:t>
            </a:r>
            <a:endParaRPr lang="en-US" sz="1900" dirty="0"/>
          </a:p>
        </p:txBody>
      </p:sp>
      <p:sp>
        <p:nvSpPr>
          <p:cNvPr id="7" name="Text 5"/>
          <p:cNvSpPr txBox="1"/>
          <p:nvPr/>
        </p:nvSpPr>
        <p:spPr>
          <a:xfrm>
            <a:off x="7315200" y="3200400"/>
            <a:ext cx="3931920" cy="1554480"/>
          </a:xfrm>
          <a:prstGeom prst="rect">
            <a:avLst/>
          </a:prstGeom>
          <a:noFill/>
          <a:ln/>
        </p:spPr>
        <p:txBody>
          <a:bodyPr wrap="square" lIns="0" tIns="0" rIns="0" bIns="0" rtlCol="0" anchor="ctr"/>
          <a:lstStyle/>
          <a:p>
            <a:pPr indent="0" marL="0">
              <a:lnSpc>
                <a:spcPts val="2000"/>
              </a:lnSpc>
              <a:buNone/>
            </a:pPr>
            <a:r>
              <a:rPr lang="en-US" sz="1300" dirty="0">
                <a:solidFill>
                  <a:srgbClr val="5A668F"/>
                </a:solidFill>
                <a:latin typeface="Calibri" pitchFamily="34" charset="0"/>
                <a:ea typeface="Calibri" pitchFamily="34" charset="-122"/>
                <a:cs typeface="Calibri" pitchFamily="34" charset="-120"/>
              </a:rPr>
              <a:t>A recent SIM change is exactly what an account takeover looks like. It is also exactly what losing your phone looks like. A rule cannot tell them apart, because it never asks a second question.</a:t>
            </a:r>
            <a:endParaRPr lang="en-US" sz="1300" dirty="0"/>
          </a:p>
        </p:txBody>
      </p:sp>
      <p:sp>
        <p:nvSpPr>
          <p:cNvPr id="8" name="Text 6"/>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5A668F"/>
                </a:solidFill>
                <a:latin typeface="Courier New" pitchFamily="34" charset="0"/>
                <a:ea typeface="Courier New" pitchFamily="34" charset="-122"/>
                <a:cs typeface="Courier New" pitchFamily="34" charset="-120"/>
              </a:rPr>
              <a:t>ISNAD  ·  THEME 4  ·  THE PROBLEM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70B20"/>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E5BB59"/>
                </a:solidFill>
                <a:latin typeface="Courier New" pitchFamily="34" charset="0"/>
                <a:ea typeface="Courier New" pitchFamily="34" charset="-122"/>
                <a:cs typeface="Courier New" pitchFamily="34" charset="-120"/>
              </a:rPr>
              <a:t>WHY NOW</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EEF2FF"/>
                </a:solidFill>
                <a:latin typeface="Cambria" pitchFamily="34" charset="0"/>
                <a:ea typeface="Cambria" pitchFamily="34" charset="-122"/>
                <a:cs typeface="Cambria" pitchFamily="34" charset="-120"/>
              </a:rPr>
              <a:t>Soft proofs of identity are getting easier to imitate.</a:t>
            </a:r>
            <a:endParaRPr lang="en-US" sz="3400" dirty="0"/>
          </a:p>
        </p:txBody>
      </p:sp>
      <p:sp>
        <p:nvSpPr>
          <p:cNvPr id="4" name="Shape 2"/>
          <p:cNvSpPr/>
          <p:nvPr/>
        </p:nvSpPr>
        <p:spPr>
          <a:xfrm>
            <a:off x="640080" y="2148840"/>
            <a:ext cx="3429000" cy="1371600"/>
          </a:xfrm>
          <a:prstGeom prst="roundRect">
            <a:avLst>
              <a:gd name="adj" fmla="val 6000"/>
            </a:avLst>
          </a:prstGeom>
          <a:solidFill>
            <a:srgbClr val="0C1230"/>
          </a:solidFill>
          <a:ln w="12700">
            <a:solidFill>
              <a:srgbClr val="2D3B70"/>
            </a:solidFill>
            <a:prstDash val="solid"/>
          </a:ln>
        </p:spPr>
      </p:sp>
      <p:sp>
        <p:nvSpPr>
          <p:cNvPr id="5" name="Text 3"/>
          <p:cNvSpPr txBox="1"/>
          <p:nvPr/>
        </p:nvSpPr>
        <p:spPr>
          <a:xfrm>
            <a:off x="896112" y="2359152"/>
            <a:ext cx="2926080" cy="320040"/>
          </a:xfrm>
          <a:prstGeom prst="rect">
            <a:avLst/>
          </a:prstGeom>
          <a:noFill/>
          <a:ln/>
        </p:spPr>
        <p:txBody>
          <a:bodyPr wrap="square" lIns="0" tIns="0" rIns="0" bIns="0" rtlCol="0" anchor="ctr"/>
          <a:lstStyle/>
          <a:p>
            <a:pPr indent="0" marL="0">
              <a:buNone/>
            </a:pPr>
            <a:r>
              <a:rPr lang="en-US" sz="1700" b="1" dirty="0">
                <a:solidFill>
                  <a:srgbClr val="FF7979"/>
                </a:solidFill>
                <a:latin typeface="Cambria" pitchFamily="34" charset="0"/>
                <a:ea typeface="Cambria" pitchFamily="34" charset="-122"/>
                <a:cs typeface="Cambria" pitchFamily="34" charset="-120"/>
              </a:rPr>
              <a:t>Deepfakes</a:t>
            </a:r>
            <a:endParaRPr lang="en-US" sz="1700" dirty="0"/>
          </a:p>
        </p:txBody>
      </p:sp>
      <p:sp>
        <p:nvSpPr>
          <p:cNvPr id="6" name="Text 4"/>
          <p:cNvSpPr txBox="1"/>
          <p:nvPr/>
        </p:nvSpPr>
        <p:spPr>
          <a:xfrm>
            <a:off x="896112" y="2724912"/>
            <a:ext cx="2926080" cy="685800"/>
          </a:xfrm>
          <a:prstGeom prst="rect">
            <a:avLst/>
          </a:prstGeom>
          <a:noFill/>
          <a:ln/>
        </p:spPr>
        <p:txBody>
          <a:bodyPr wrap="square" lIns="0" tIns="0" rIns="0" bIns="0" rtlCol="0" anchor="ctr"/>
          <a:lstStyle/>
          <a:p>
            <a:pPr indent="0" marL="0">
              <a:lnSpc>
                <a:spcPts val="1700"/>
              </a:lnSpc>
              <a:buNone/>
            </a:pPr>
            <a:r>
              <a:rPr lang="en-US" sz="1200" dirty="0">
                <a:solidFill>
                  <a:srgbClr val="AAB5D4"/>
                </a:solidFill>
                <a:latin typeface="Calibri" pitchFamily="34" charset="0"/>
                <a:ea typeface="Calibri" pitchFamily="34" charset="-122"/>
                <a:cs typeface="Calibri" pitchFamily="34" charset="-120"/>
              </a:rPr>
              <a:t>pass liveness and face checks</a:t>
            </a:r>
            <a:endParaRPr lang="en-US" sz="1200" dirty="0"/>
          </a:p>
        </p:txBody>
      </p:sp>
      <p:sp>
        <p:nvSpPr>
          <p:cNvPr id="7" name="Shape 5"/>
          <p:cNvSpPr/>
          <p:nvPr/>
        </p:nvSpPr>
        <p:spPr>
          <a:xfrm>
            <a:off x="4343400" y="2148840"/>
            <a:ext cx="3429000" cy="1371600"/>
          </a:xfrm>
          <a:prstGeom prst="roundRect">
            <a:avLst>
              <a:gd name="adj" fmla="val 6000"/>
            </a:avLst>
          </a:prstGeom>
          <a:solidFill>
            <a:srgbClr val="0C1230"/>
          </a:solidFill>
          <a:ln w="12700">
            <a:solidFill>
              <a:srgbClr val="2D3B70"/>
            </a:solidFill>
            <a:prstDash val="solid"/>
          </a:ln>
        </p:spPr>
      </p:sp>
      <p:sp>
        <p:nvSpPr>
          <p:cNvPr id="8" name="Text 6"/>
          <p:cNvSpPr txBox="1"/>
          <p:nvPr/>
        </p:nvSpPr>
        <p:spPr>
          <a:xfrm>
            <a:off x="4599432" y="2359152"/>
            <a:ext cx="2926080" cy="320040"/>
          </a:xfrm>
          <a:prstGeom prst="rect">
            <a:avLst/>
          </a:prstGeom>
          <a:noFill/>
          <a:ln/>
        </p:spPr>
        <p:txBody>
          <a:bodyPr wrap="square" lIns="0" tIns="0" rIns="0" bIns="0" rtlCol="0" anchor="ctr"/>
          <a:lstStyle/>
          <a:p>
            <a:pPr indent="0" marL="0">
              <a:buNone/>
            </a:pPr>
            <a:r>
              <a:rPr lang="en-US" sz="1700" b="1" dirty="0">
                <a:solidFill>
                  <a:srgbClr val="FF7979"/>
                </a:solidFill>
                <a:latin typeface="Cambria" pitchFamily="34" charset="0"/>
                <a:ea typeface="Cambria" pitchFamily="34" charset="-122"/>
                <a:cs typeface="Cambria" pitchFamily="34" charset="-120"/>
              </a:rPr>
              <a:t>Voice clones</a:t>
            </a:r>
            <a:endParaRPr lang="en-US" sz="1700" dirty="0"/>
          </a:p>
        </p:txBody>
      </p:sp>
      <p:sp>
        <p:nvSpPr>
          <p:cNvPr id="9" name="Text 7"/>
          <p:cNvSpPr txBox="1"/>
          <p:nvPr/>
        </p:nvSpPr>
        <p:spPr>
          <a:xfrm>
            <a:off x="4599432" y="2724912"/>
            <a:ext cx="2926080" cy="685800"/>
          </a:xfrm>
          <a:prstGeom prst="rect">
            <a:avLst/>
          </a:prstGeom>
          <a:noFill/>
          <a:ln/>
        </p:spPr>
        <p:txBody>
          <a:bodyPr wrap="square" lIns="0" tIns="0" rIns="0" bIns="0" rtlCol="0" anchor="ctr"/>
          <a:lstStyle/>
          <a:p>
            <a:pPr indent="0" marL="0">
              <a:lnSpc>
                <a:spcPts val="1700"/>
              </a:lnSpc>
              <a:buNone/>
            </a:pPr>
            <a:r>
              <a:rPr lang="en-US" sz="1200" dirty="0">
                <a:solidFill>
                  <a:srgbClr val="AAB5D4"/>
                </a:solidFill>
                <a:latin typeface="Calibri" pitchFamily="34" charset="0"/>
                <a:ea typeface="Calibri" pitchFamily="34" charset="-122"/>
                <a:cs typeface="Calibri" pitchFamily="34" charset="-120"/>
              </a:rPr>
              <a:t>defeat call-centre verification</a:t>
            </a:r>
            <a:endParaRPr lang="en-US" sz="1200" dirty="0"/>
          </a:p>
        </p:txBody>
      </p:sp>
      <p:sp>
        <p:nvSpPr>
          <p:cNvPr id="10" name="Shape 8"/>
          <p:cNvSpPr/>
          <p:nvPr/>
        </p:nvSpPr>
        <p:spPr>
          <a:xfrm>
            <a:off x="8046720" y="2148840"/>
            <a:ext cx="3429000" cy="1371600"/>
          </a:xfrm>
          <a:prstGeom prst="roundRect">
            <a:avLst>
              <a:gd name="adj" fmla="val 6000"/>
            </a:avLst>
          </a:prstGeom>
          <a:solidFill>
            <a:srgbClr val="0C1230"/>
          </a:solidFill>
          <a:ln w="12700">
            <a:solidFill>
              <a:srgbClr val="2D3B70"/>
            </a:solidFill>
            <a:prstDash val="solid"/>
          </a:ln>
        </p:spPr>
      </p:sp>
      <p:sp>
        <p:nvSpPr>
          <p:cNvPr id="11" name="Text 9"/>
          <p:cNvSpPr txBox="1"/>
          <p:nvPr/>
        </p:nvSpPr>
        <p:spPr>
          <a:xfrm>
            <a:off x="8302752" y="2359152"/>
            <a:ext cx="2926080" cy="320040"/>
          </a:xfrm>
          <a:prstGeom prst="rect">
            <a:avLst/>
          </a:prstGeom>
          <a:noFill/>
          <a:ln/>
        </p:spPr>
        <p:txBody>
          <a:bodyPr wrap="square" lIns="0" tIns="0" rIns="0" bIns="0" rtlCol="0" anchor="ctr"/>
          <a:lstStyle/>
          <a:p>
            <a:pPr indent="0" marL="0">
              <a:buNone/>
            </a:pPr>
            <a:r>
              <a:rPr lang="en-US" sz="1700" b="1" dirty="0">
                <a:solidFill>
                  <a:srgbClr val="FF7979"/>
                </a:solidFill>
                <a:latin typeface="Cambria" pitchFamily="34" charset="0"/>
                <a:ea typeface="Cambria" pitchFamily="34" charset="-122"/>
                <a:cs typeface="Cambria" pitchFamily="34" charset="-120"/>
              </a:rPr>
              <a:t>OTPs</a:t>
            </a:r>
            <a:endParaRPr lang="en-US" sz="1700" dirty="0"/>
          </a:p>
        </p:txBody>
      </p:sp>
      <p:sp>
        <p:nvSpPr>
          <p:cNvPr id="12" name="Text 10"/>
          <p:cNvSpPr txBox="1"/>
          <p:nvPr/>
        </p:nvSpPr>
        <p:spPr>
          <a:xfrm>
            <a:off x="8302752" y="2724912"/>
            <a:ext cx="2926080" cy="685800"/>
          </a:xfrm>
          <a:prstGeom prst="rect">
            <a:avLst/>
          </a:prstGeom>
          <a:noFill/>
          <a:ln/>
        </p:spPr>
        <p:txBody>
          <a:bodyPr wrap="square" lIns="0" tIns="0" rIns="0" bIns="0" rtlCol="0" anchor="ctr"/>
          <a:lstStyle/>
          <a:p>
            <a:pPr indent="0" marL="0">
              <a:lnSpc>
                <a:spcPts val="1700"/>
              </a:lnSpc>
              <a:buNone/>
            </a:pPr>
            <a:r>
              <a:rPr lang="en-US" sz="1200" dirty="0">
                <a:solidFill>
                  <a:srgbClr val="AAB5D4"/>
                </a:solidFill>
                <a:latin typeface="Calibri" pitchFamily="34" charset="0"/>
                <a:ea typeface="Calibri" pitchFamily="34" charset="-122"/>
                <a:cs typeface="Calibri" pitchFamily="34" charset="-120"/>
              </a:rPr>
              <a:t>are phishable, and add friction for honest customers</a:t>
            </a:r>
            <a:endParaRPr lang="en-US" sz="1200" dirty="0"/>
          </a:p>
        </p:txBody>
      </p:sp>
      <p:sp>
        <p:nvSpPr>
          <p:cNvPr id="13" name="Shape 11"/>
          <p:cNvSpPr/>
          <p:nvPr/>
        </p:nvSpPr>
        <p:spPr>
          <a:xfrm>
            <a:off x="640080" y="3886200"/>
            <a:ext cx="10881360" cy="1691640"/>
          </a:xfrm>
          <a:prstGeom prst="roundRect">
            <a:avLst>
              <a:gd name="adj" fmla="val 4865"/>
            </a:avLst>
          </a:prstGeom>
          <a:solidFill>
            <a:srgbClr val="0C1230"/>
          </a:solidFill>
          <a:ln w="12700">
            <a:solidFill>
              <a:srgbClr val="2D3B70"/>
            </a:solidFill>
            <a:prstDash val="solid"/>
          </a:ln>
        </p:spPr>
      </p:sp>
      <p:sp>
        <p:nvSpPr>
          <p:cNvPr id="14" name="Text 12"/>
          <p:cNvSpPr txBox="1"/>
          <p:nvPr/>
        </p:nvSpPr>
        <p:spPr>
          <a:xfrm>
            <a:off x="960120" y="4114800"/>
            <a:ext cx="10058400" cy="320040"/>
          </a:xfrm>
          <a:prstGeom prst="rect">
            <a:avLst/>
          </a:prstGeom>
          <a:noFill/>
          <a:ln/>
        </p:spPr>
        <p:txBody>
          <a:bodyPr wrap="square" lIns="0" tIns="0" rIns="0" bIns="0" rtlCol="0" anchor="ctr"/>
          <a:lstStyle/>
          <a:p>
            <a:pPr indent="0" marL="0">
              <a:buNone/>
            </a:pPr>
            <a:r>
              <a:rPr lang="en-US" sz="1050" b="1" spc="200" kern="0" dirty="0">
                <a:solidFill>
                  <a:srgbClr val="E5BB59"/>
                </a:solidFill>
                <a:latin typeface="Courier New" pitchFamily="34" charset="0"/>
                <a:ea typeface="Courier New" pitchFamily="34" charset="-122"/>
                <a:cs typeface="Courier New" pitchFamily="34" charset="-120"/>
              </a:rPr>
              <a:t>What a model still cannot fake</a:t>
            </a:r>
            <a:endParaRPr lang="en-US" sz="1050" dirty="0"/>
          </a:p>
        </p:txBody>
      </p:sp>
      <p:sp>
        <p:nvSpPr>
          <p:cNvPr id="15" name="Text 13"/>
          <p:cNvSpPr txBox="1"/>
          <p:nvPr/>
        </p:nvSpPr>
        <p:spPr>
          <a:xfrm>
            <a:off x="960120" y="4480560"/>
            <a:ext cx="10241280" cy="914400"/>
          </a:xfrm>
          <a:prstGeom prst="rect">
            <a:avLst/>
          </a:prstGeom>
          <a:noFill/>
          <a:ln/>
        </p:spPr>
        <p:txBody>
          <a:bodyPr wrap="square" lIns="0" tIns="0" rIns="0" bIns="0" rtlCol="0" anchor="ctr"/>
          <a:lstStyle/>
          <a:p>
            <a:pPr indent="0" marL="0">
              <a:lnSpc>
                <a:spcPts val="2100"/>
              </a:lnSpc>
              <a:buNone/>
            </a:pPr>
            <a:r>
              <a:rPr lang="en-US" sz="1450" dirty="0">
                <a:solidFill>
                  <a:srgbClr val="EEF2FF"/>
                </a:solidFill>
                <a:latin typeface="Calibri" pitchFamily="34" charset="0"/>
                <a:ea typeface="Calibri" pitchFamily="34" charset="-122"/>
                <a:cs typeface="Calibri" pitchFamily="34" charset="-120"/>
              </a:rPr>
              <a:t>A physical SIM, in radio range of a physical cell tower, with years of history behind it. That is a constraint an image or a voice sample does not carry, and CAMARA makes that class of evidence available outside the operator.</a:t>
            </a:r>
            <a:endParaRPr lang="en-US" sz="1450" dirty="0"/>
          </a:p>
        </p:txBody>
      </p:sp>
      <p:sp>
        <p:nvSpPr>
          <p:cNvPr id="16" name="Text 14"/>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AAB5D4"/>
                </a:solidFill>
                <a:latin typeface="Courier New" pitchFamily="34" charset="0"/>
                <a:ea typeface="Courier New" pitchFamily="34" charset="-122"/>
                <a:cs typeface="Courier New" pitchFamily="34" charset="-120"/>
              </a:rPr>
              <a:t>ISNAD  ·  THEME 4  ·  WHY NOW</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B8860B"/>
                </a:solidFill>
                <a:latin typeface="Courier New" pitchFamily="34" charset="0"/>
                <a:ea typeface="Courier New" pitchFamily="34" charset="-122"/>
                <a:cs typeface="Courier New" pitchFamily="34" charset="-120"/>
              </a:rPr>
              <a:t>ISNAD · إسناد · THE CHAIN OF TRANSMISSION</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16204A"/>
                </a:solidFill>
                <a:latin typeface="Cambria" pitchFamily="34" charset="0"/>
                <a:ea typeface="Cambria" pitchFamily="34" charset="-122"/>
                <a:cs typeface="Cambria" pitchFamily="34" charset="-120"/>
              </a:rPr>
              <a:t>Judge a report by scrutinising every link that carried it.</a:t>
            </a:r>
            <a:endParaRPr lang="en-US" sz="3400" dirty="0"/>
          </a:p>
        </p:txBody>
      </p:sp>
      <p:sp>
        <p:nvSpPr>
          <p:cNvPr id="4" name="Shape 2"/>
          <p:cNvSpPr/>
          <p:nvPr/>
        </p:nvSpPr>
        <p:spPr>
          <a:xfrm>
            <a:off x="640080" y="2240280"/>
            <a:ext cx="1965960" cy="1234440"/>
          </a:xfrm>
          <a:prstGeom prst="roundRect">
            <a:avLst>
              <a:gd name="adj" fmla="val 6667"/>
            </a:avLst>
          </a:prstGeom>
          <a:solidFill>
            <a:srgbClr val="F4F6FD"/>
          </a:solidFill>
          <a:ln w="12700">
            <a:solidFill>
              <a:srgbClr val="DCE2F2"/>
            </a:solidFill>
            <a:prstDash val="solid"/>
          </a:ln>
        </p:spPr>
      </p:sp>
      <p:sp>
        <p:nvSpPr>
          <p:cNvPr id="5" name="Text 3"/>
          <p:cNvSpPr txBox="1"/>
          <p:nvPr/>
        </p:nvSpPr>
        <p:spPr>
          <a:xfrm>
            <a:off x="822960" y="2450592"/>
            <a:ext cx="1645920" cy="320040"/>
          </a:xfrm>
          <a:prstGeom prst="rect">
            <a:avLst/>
          </a:prstGeom>
          <a:noFill/>
          <a:ln/>
        </p:spPr>
        <p:txBody>
          <a:bodyPr wrap="square" lIns="0" tIns="0" rIns="0" bIns="0" rtlCol="0" anchor="ctr"/>
          <a:lstStyle/>
          <a:p>
            <a:pPr indent="0" marL="0">
              <a:buNone/>
            </a:pPr>
            <a:r>
              <a:rPr lang="en-US" sz="1600" b="1" dirty="0">
                <a:solidFill>
                  <a:srgbClr val="16204A"/>
                </a:solidFill>
                <a:latin typeface="Cambria" pitchFamily="34" charset="0"/>
                <a:ea typeface="Cambria" pitchFamily="34" charset="-122"/>
                <a:cs typeface="Cambria" pitchFamily="34" charset="-120"/>
              </a:rPr>
              <a:t>Human</a:t>
            </a:r>
            <a:endParaRPr lang="en-US" sz="1600" dirty="0"/>
          </a:p>
        </p:txBody>
      </p:sp>
      <p:sp>
        <p:nvSpPr>
          <p:cNvPr id="6" name="Text 4"/>
          <p:cNvSpPr txBox="1"/>
          <p:nvPr/>
        </p:nvSpPr>
        <p:spPr>
          <a:xfrm>
            <a:off x="822960" y="2816352"/>
            <a:ext cx="1645920" cy="502920"/>
          </a:xfrm>
          <a:prstGeom prst="rect">
            <a:avLst/>
          </a:prstGeom>
          <a:noFill/>
          <a:ln/>
        </p:spPr>
        <p:txBody>
          <a:bodyPr wrap="square" lIns="0" tIns="0" rIns="0" bIns="0" rtlCol="0" anchor="ctr"/>
          <a:lstStyle/>
          <a:p>
            <a:pPr indent="0" marL="0">
              <a:lnSpc>
                <a:spcPts val="1100"/>
              </a:lnSpc>
              <a:buNone/>
            </a:pPr>
            <a:r>
              <a:rPr lang="en-US" sz="800" dirty="0">
                <a:solidFill>
                  <a:srgbClr val="5A668F"/>
                </a:solidFill>
                <a:latin typeface="Courier New" pitchFamily="34" charset="0"/>
                <a:ea typeface="Courier New" pitchFamily="34" charset="-122"/>
                <a:cs typeface="Courier New" pitchFamily="34" charset="-120"/>
              </a:rPr>
              <a:t>NUMBER VERIFICATION</a:t>
            </a:r>
            <a:endParaRPr lang="en-US" sz="800" dirty="0"/>
          </a:p>
        </p:txBody>
      </p:sp>
      <p:sp>
        <p:nvSpPr>
          <p:cNvPr id="7" name="Text 5"/>
          <p:cNvSpPr txBox="1"/>
          <p:nvPr/>
        </p:nvSpPr>
        <p:spPr>
          <a:xfrm>
            <a:off x="2587752" y="2670048"/>
            <a:ext cx="310896" cy="365760"/>
          </a:xfrm>
          <a:prstGeom prst="rect">
            <a:avLst/>
          </a:prstGeom>
          <a:noFill/>
          <a:ln/>
        </p:spPr>
        <p:txBody>
          <a:bodyPr wrap="square" lIns="0" tIns="0" rIns="0" bIns="0" rtlCol="0" anchor="ctr"/>
          <a:lstStyle/>
          <a:p>
            <a:pPr algn="ctr" indent="0" marL="0">
              <a:buNone/>
            </a:pPr>
            <a:r>
              <a:rPr lang="en-US" sz="1800" b="1" dirty="0">
                <a:solidFill>
                  <a:srgbClr val="B8860B"/>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889504" y="2240280"/>
            <a:ext cx="1965960" cy="1234440"/>
          </a:xfrm>
          <a:prstGeom prst="roundRect">
            <a:avLst>
              <a:gd name="adj" fmla="val 6667"/>
            </a:avLst>
          </a:prstGeom>
          <a:solidFill>
            <a:srgbClr val="F4F6FD"/>
          </a:solidFill>
          <a:ln w="12700">
            <a:solidFill>
              <a:srgbClr val="DCE2F2"/>
            </a:solidFill>
            <a:prstDash val="solid"/>
          </a:ln>
        </p:spPr>
      </p:sp>
      <p:sp>
        <p:nvSpPr>
          <p:cNvPr id="9" name="Text 7"/>
          <p:cNvSpPr txBox="1"/>
          <p:nvPr/>
        </p:nvSpPr>
        <p:spPr>
          <a:xfrm>
            <a:off x="3072384" y="2450592"/>
            <a:ext cx="1645920" cy="320040"/>
          </a:xfrm>
          <a:prstGeom prst="rect">
            <a:avLst/>
          </a:prstGeom>
          <a:noFill/>
          <a:ln/>
        </p:spPr>
        <p:txBody>
          <a:bodyPr wrap="square" lIns="0" tIns="0" rIns="0" bIns="0" rtlCol="0" anchor="ctr"/>
          <a:lstStyle/>
          <a:p>
            <a:pPr indent="0" marL="0">
              <a:buNone/>
            </a:pPr>
            <a:r>
              <a:rPr lang="en-US" sz="1600" b="1" dirty="0">
                <a:solidFill>
                  <a:srgbClr val="16204A"/>
                </a:solidFill>
                <a:latin typeface="Cambria" pitchFamily="34" charset="0"/>
                <a:ea typeface="Cambria" pitchFamily="34" charset="-122"/>
                <a:cs typeface="Cambria" pitchFamily="34" charset="-120"/>
              </a:rPr>
              <a:t>SIM</a:t>
            </a:r>
            <a:endParaRPr lang="en-US" sz="1600" dirty="0"/>
          </a:p>
        </p:txBody>
      </p:sp>
      <p:sp>
        <p:nvSpPr>
          <p:cNvPr id="10" name="Text 8"/>
          <p:cNvSpPr txBox="1"/>
          <p:nvPr/>
        </p:nvSpPr>
        <p:spPr>
          <a:xfrm>
            <a:off x="3072384" y="2816352"/>
            <a:ext cx="1645920" cy="502920"/>
          </a:xfrm>
          <a:prstGeom prst="rect">
            <a:avLst/>
          </a:prstGeom>
          <a:noFill/>
          <a:ln/>
        </p:spPr>
        <p:txBody>
          <a:bodyPr wrap="square" lIns="0" tIns="0" rIns="0" bIns="0" rtlCol="0" anchor="ctr"/>
          <a:lstStyle/>
          <a:p>
            <a:pPr indent="0" marL="0">
              <a:lnSpc>
                <a:spcPts val="1100"/>
              </a:lnSpc>
              <a:buNone/>
            </a:pPr>
            <a:r>
              <a:rPr lang="en-US" sz="800" dirty="0">
                <a:solidFill>
                  <a:srgbClr val="5A668F"/>
                </a:solidFill>
                <a:latin typeface="Courier New" pitchFamily="34" charset="0"/>
                <a:ea typeface="Courier New" pitchFamily="34" charset="-122"/>
                <a:cs typeface="Courier New" pitchFamily="34" charset="-120"/>
              </a:rPr>
              <a:t>SIM SWAP</a:t>
            </a:r>
            <a:endParaRPr lang="en-US" sz="800" dirty="0"/>
          </a:p>
        </p:txBody>
      </p:sp>
      <p:sp>
        <p:nvSpPr>
          <p:cNvPr id="11" name="Text 9"/>
          <p:cNvSpPr txBox="1"/>
          <p:nvPr/>
        </p:nvSpPr>
        <p:spPr>
          <a:xfrm>
            <a:off x="4837176" y="2670048"/>
            <a:ext cx="310896" cy="365760"/>
          </a:xfrm>
          <a:prstGeom prst="rect">
            <a:avLst/>
          </a:prstGeom>
          <a:noFill/>
          <a:ln/>
        </p:spPr>
        <p:txBody>
          <a:bodyPr wrap="square" lIns="0" tIns="0" rIns="0" bIns="0" rtlCol="0" anchor="ctr"/>
          <a:lstStyle/>
          <a:p>
            <a:pPr algn="ctr" indent="0" marL="0">
              <a:buNone/>
            </a:pPr>
            <a:r>
              <a:rPr lang="en-US" sz="1800" b="1" dirty="0">
                <a:solidFill>
                  <a:srgbClr val="B8860B"/>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138928" y="2240280"/>
            <a:ext cx="1965960" cy="1234440"/>
          </a:xfrm>
          <a:prstGeom prst="roundRect">
            <a:avLst>
              <a:gd name="adj" fmla="val 6667"/>
            </a:avLst>
          </a:prstGeom>
          <a:solidFill>
            <a:srgbClr val="F4F6FD"/>
          </a:solidFill>
          <a:ln w="12700">
            <a:solidFill>
              <a:srgbClr val="DCE2F2"/>
            </a:solidFill>
            <a:prstDash val="solid"/>
          </a:ln>
        </p:spPr>
      </p:sp>
      <p:sp>
        <p:nvSpPr>
          <p:cNvPr id="13" name="Text 11"/>
          <p:cNvSpPr txBox="1"/>
          <p:nvPr/>
        </p:nvSpPr>
        <p:spPr>
          <a:xfrm>
            <a:off x="5321808" y="2450592"/>
            <a:ext cx="1645920" cy="320040"/>
          </a:xfrm>
          <a:prstGeom prst="rect">
            <a:avLst/>
          </a:prstGeom>
          <a:noFill/>
          <a:ln/>
        </p:spPr>
        <p:txBody>
          <a:bodyPr wrap="square" lIns="0" tIns="0" rIns="0" bIns="0" rtlCol="0" anchor="ctr"/>
          <a:lstStyle/>
          <a:p>
            <a:pPr indent="0" marL="0">
              <a:buNone/>
            </a:pPr>
            <a:r>
              <a:rPr lang="en-US" sz="1600" b="1" dirty="0">
                <a:solidFill>
                  <a:srgbClr val="16204A"/>
                </a:solidFill>
                <a:latin typeface="Cambria" pitchFamily="34" charset="0"/>
                <a:ea typeface="Cambria" pitchFamily="34" charset="-122"/>
                <a:cs typeface="Cambria" pitchFamily="34" charset="-120"/>
              </a:rPr>
              <a:t>Device</a:t>
            </a:r>
            <a:endParaRPr lang="en-US" sz="1600" dirty="0"/>
          </a:p>
        </p:txBody>
      </p:sp>
      <p:sp>
        <p:nvSpPr>
          <p:cNvPr id="14" name="Text 12"/>
          <p:cNvSpPr txBox="1"/>
          <p:nvPr/>
        </p:nvSpPr>
        <p:spPr>
          <a:xfrm>
            <a:off x="5321808" y="2816352"/>
            <a:ext cx="1645920" cy="502920"/>
          </a:xfrm>
          <a:prstGeom prst="rect">
            <a:avLst/>
          </a:prstGeom>
          <a:noFill/>
          <a:ln/>
        </p:spPr>
        <p:txBody>
          <a:bodyPr wrap="square" lIns="0" tIns="0" rIns="0" bIns="0" rtlCol="0" anchor="ctr"/>
          <a:lstStyle/>
          <a:p>
            <a:pPr indent="0" marL="0">
              <a:lnSpc>
                <a:spcPts val="1100"/>
              </a:lnSpc>
              <a:buNone/>
            </a:pPr>
            <a:r>
              <a:rPr lang="en-US" sz="800" dirty="0">
                <a:solidFill>
                  <a:srgbClr val="5A668F"/>
                </a:solidFill>
                <a:latin typeface="Courier New" pitchFamily="34" charset="0"/>
                <a:ea typeface="Courier New" pitchFamily="34" charset="-122"/>
                <a:cs typeface="Courier New" pitchFamily="34" charset="-120"/>
              </a:rPr>
              <a:t>DEVICE SWAP</a:t>
            </a:r>
            <a:endParaRPr lang="en-US" sz="800" dirty="0"/>
          </a:p>
        </p:txBody>
      </p:sp>
      <p:sp>
        <p:nvSpPr>
          <p:cNvPr id="15" name="Text 13"/>
          <p:cNvSpPr txBox="1"/>
          <p:nvPr/>
        </p:nvSpPr>
        <p:spPr>
          <a:xfrm>
            <a:off x="7086600" y="2670048"/>
            <a:ext cx="310896" cy="365760"/>
          </a:xfrm>
          <a:prstGeom prst="rect">
            <a:avLst/>
          </a:prstGeom>
          <a:noFill/>
          <a:ln/>
        </p:spPr>
        <p:txBody>
          <a:bodyPr wrap="square" lIns="0" tIns="0" rIns="0" bIns="0" rtlCol="0" anchor="ctr"/>
          <a:lstStyle/>
          <a:p>
            <a:pPr algn="ctr" indent="0" marL="0">
              <a:buNone/>
            </a:pPr>
            <a:r>
              <a:rPr lang="en-US" sz="1800" b="1" dirty="0">
                <a:solidFill>
                  <a:srgbClr val="B8860B"/>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388352" y="2240280"/>
            <a:ext cx="1965960" cy="1234440"/>
          </a:xfrm>
          <a:prstGeom prst="roundRect">
            <a:avLst>
              <a:gd name="adj" fmla="val 6667"/>
            </a:avLst>
          </a:prstGeom>
          <a:solidFill>
            <a:srgbClr val="F4F6FD"/>
          </a:solidFill>
          <a:ln w="12700">
            <a:solidFill>
              <a:srgbClr val="DCE2F2"/>
            </a:solidFill>
            <a:prstDash val="solid"/>
          </a:ln>
        </p:spPr>
      </p:sp>
      <p:sp>
        <p:nvSpPr>
          <p:cNvPr id="17" name="Text 15"/>
          <p:cNvSpPr txBox="1"/>
          <p:nvPr/>
        </p:nvSpPr>
        <p:spPr>
          <a:xfrm>
            <a:off x="7571232" y="2450592"/>
            <a:ext cx="1645920" cy="320040"/>
          </a:xfrm>
          <a:prstGeom prst="rect">
            <a:avLst/>
          </a:prstGeom>
          <a:noFill/>
          <a:ln/>
        </p:spPr>
        <p:txBody>
          <a:bodyPr wrap="square" lIns="0" tIns="0" rIns="0" bIns="0" rtlCol="0" anchor="ctr"/>
          <a:lstStyle/>
          <a:p>
            <a:pPr indent="0" marL="0">
              <a:buNone/>
            </a:pPr>
            <a:r>
              <a:rPr lang="en-US" sz="1600" b="1" dirty="0">
                <a:solidFill>
                  <a:srgbClr val="16204A"/>
                </a:solidFill>
                <a:latin typeface="Cambria" pitchFamily="34" charset="0"/>
                <a:ea typeface="Cambria" pitchFamily="34" charset="-122"/>
                <a:cs typeface="Cambria" pitchFamily="34" charset="-120"/>
              </a:rPr>
              <a:t>Location</a:t>
            </a:r>
            <a:endParaRPr lang="en-US" sz="1600" dirty="0"/>
          </a:p>
        </p:txBody>
      </p:sp>
      <p:sp>
        <p:nvSpPr>
          <p:cNvPr id="18" name="Text 16"/>
          <p:cNvSpPr txBox="1"/>
          <p:nvPr/>
        </p:nvSpPr>
        <p:spPr>
          <a:xfrm>
            <a:off x="7571232" y="2816352"/>
            <a:ext cx="1645920" cy="502920"/>
          </a:xfrm>
          <a:prstGeom prst="rect">
            <a:avLst/>
          </a:prstGeom>
          <a:noFill/>
          <a:ln/>
        </p:spPr>
        <p:txBody>
          <a:bodyPr wrap="square" lIns="0" tIns="0" rIns="0" bIns="0" rtlCol="0" anchor="ctr"/>
          <a:lstStyle/>
          <a:p>
            <a:pPr indent="0" marL="0">
              <a:lnSpc>
                <a:spcPts val="1100"/>
              </a:lnSpc>
              <a:buNone/>
            </a:pPr>
            <a:r>
              <a:rPr lang="en-US" sz="800" dirty="0">
                <a:solidFill>
                  <a:srgbClr val="5A668F"/>
                </a:solidFill>
                <a:latin typeface="Courier New" pitchFamily="34" charset="0"/>
                <a:ea typeface="Courier New" pitchFamily="34" charset="-122"/>
                <a:cs typeface="Courier New" pitchFamily="34" charset="-120"/>
              </a:rPr>
              <a:t>LOCATION VERIFY</a:t>
            </a:r>
            <a:endParaRPr lang="en-US" sz="800" dirty="0"/>
          </a:p>
        </p:txBody>
      </p:sp>
      <p:sp>
        <p:nvSpPr>
          <p:cNvPr id="19" name="Text 17"/>
          <p:cNvSpPr txBox="1"/>
          <p:nvPr/>
        </p:nvSpPr>
        <p:spPr>
          <a:xfrm>
            <a:off x="9336024" y="2670048"/>
            <a:ext cx="310896" cy="365760"/>
          </a:xfrm>
          <a:prstGeom prst="rect">
            <a:avLst/>
          </a:prstGeom>
          <a:noFill/>
          <a:ln/>
        </p:spPr>
        <p:txBody>
          <a:bodyPr wrap="square" lIns="0" tIns="0" rIns="0" bIns="0" rtlCol="0" anchor="ctr"/>
          <a:lstStyle/>
          <a:p>
            <a:pPr algn="ctr" indent="0" marL="0">
              <a:buNone/>
            </a:pPr>
            <a:r>
              <a:rPr lang="en-US" sz="1800" b="1" dirty="0">
                <a:solidFill>
                  <a:srgbClr val="B8860B"/>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637776" y="2240280"/>
            <a:ext cx="1965960" cy="1234440"/>
          </a:xfrm>
          <a:prstGeom prst="roundRect">
            <a:avLst>
              <a:gd name="adj" fmla="val 6667"/>
            </a:avLst>
          </a:prstGeom>
          <a:solidFill>
            <a:srgbClr val="F4F6FD"/>
          </a:solidFill>
          <a:ln w="12700">
            <a:solidFill>
              <a:srgbClr val="DCE2F2"/>
            </a:solidFill>
            <a:prstDash val="solid"/>
          </a:ln>
        </p:spPr>
      </p:sp>
      <p:sp>
        <p:nvSpPr>
          <p:cNvPr id="21" name="Text 19"/>
          <p:cNvSpPr txBox="1"/>
          <p:nvPr/>
        </p:nvSpPr>
        <p:spPr>
          <a:xfrm>
            <a:off x="9820656" y="2450592"/>
            <a:ext cx="1645920" cy="320040"/>
          </a:xfrm>
          <a:prstGeom prst="rect">
            <a:avLst/>
          </a:prstGeom>
          <a:noFill/>
          <a:ln/>
        </p:spPr>
        <p:txBody>
          <a:bodyPr wrap="square" lIns="0" tIns="0" rIns="0" bIns="0" rtlCol="0" anchor="ctr"/>
          <a:lstStyle/>
          <a:p>
            <a:pPr indent="0" marL="0">
              <a:buNone/>
            </a:pPr>
            <a:r>
              <a:rPr lang="en-US" sz="1600" b="1" dirty="0">
                <a:solidFill>
                  <a:srgbClr val="16204A"/>
                </a:solidFill>
                <a:latin typeface="Cambria" pitchFamily="34" charset="0"/>
                <a:ea typeface="Cambria" pitchFamily="34" charset="-122"/>
                <a:cs typeface="Cambria" pitchFamily="34" charset="-120"/>
              </a:rPr>
              <a:t>History</a:t>
            </a:r>
            <a:endParaRPr lang="en-US" sz="1600" dirty="0"/>
          </a:p>
        </p:txBody>
      </p:sp>
      <p:sp>
        <p:nvSpPr>
          <p:cNvPr id="22" name="Text 20"/>
          <p:cNvSpPr txBox="1"/>
          <p:nvPr/>
        </p:nvSpPr>
        <p:spPr>
          <a:xfrm>
            <a:off x="9820656" y="2816352"/>
            <a:ext cx="1645920" cy="502920"/>
          </a:xfrm>
          <a:prstGeom prst="rect">
            <a:avLst/>
          </a:prstGeom>
          <a:noFill/>
          <a:ln/>
        </p:spPr>
        <p:txBody>
          <a:bodyPr wrap="square" lIns="0" tIns="0" rIns="0" bIns="0" rtlCol="0" anchor="ctr"/>
          <a:lstStyle/>
          <a:p>
            <a:pPr indent="0" marL="0">
              <a:lnSpc>
                <a:spcPts val="1100"/>
              </a:lnSpc>
              <a:buNone/>
            </a:pPr>
            <a:r>
              <a:rPr lang="en-US" sz="800" dirty="0">
                <a:solidFill>
                  <a:srgbClr val="5A668F"/>
                </a:solidFill>
                <a:latin typeface="Courier New" pitchFamily="34" charset="0"/>
                <a:ea typeface="Courier New" pitchFamily="34" charset="-122"/>
                <a:cs typeface="Courier New" pitchFamily="34" charset="-120"/>
              </a:rPr>
              <a:t>ROAMING · RECYCLING</a:t>
            </a:r>
            <a:endParaRPr lang="en-US" sz="800" dirty="0"/>
          </a:p>
        </p:txBody>
      </p:sp>
      <p:sp>
        <p:nvSpPr>
          <p:cNvPr id="23" name="Text 21"/>
          <p:cNvSpPr txBox="1"/>
          <p:nvPr/>
        </p:nvSpPr>
        <p:spPr>
          <a:xfrm>
            <a:off x="640080" y="3931920"/>
            <a:ext cx="6766560" cy="1554480"/>
          </a:xfrm>
          <a:prstGeom prst="rect">
            <a:avLst/>
          </a:prstGeom>
          <a:noFill/>
          <a:ln/>
        </p:spPr>
        <p:txBody>
          <a:bodyPr wrap="square" lIns="0" tIns="0" rIns="0" bIns="0" rtlCol="0" anchor="ctr"/>
          <a:lstStyle/>
          <a:p>
            <a:pPr indent="0" marL="0">
              <a:lnSpc>
                <a:spcPts val="2100"/>
              </a:lnSpc>
              <a:buNone/>
            </a:pPr>
            <a:r>
              <a:rPr lang="en-US" sz="1400" dirty="0">
                <a:solidFill>
                  <a:srgbClr val="5A668F"/>
                </a:solidFill>
                <a:latin typeface="Calibri" pitchFamily="34" charset="0"/>
                <a:ea typeface="Calibri" pitchFamily="34" charset="-122"/>
                <a:cs typeface="Calibri" pitchFamily="34" charset="-120"/>
              </a:rPr>
              <a:t>The name is literal. Isnad is the classical chain of transmission — the method used for over a thousand years to judge whether a report could be trusted, by examining every link that carried it. Every verdict reproduces that structure: each link a specific CAMARA call, each shown with its own provenance.</a:t>
            </a:r>
            <a:endParaRPr lang="en-US" sz="1400" dirty="0"/>
          </a:p>
        </p:txBody>
      </p:sp>
      <p:sp>
        <p:nvSpPr>
          <p:cNvPr id="24" name="Shape 22"/>
          <p:cNvSpPr/>
          <p:nvPr/>
        </p:nvSpPr>
        <p:spPr>
          <a:xfrm>
            <a:off x="7772400" y="3931920"/>
            <a:ext cx="3749040" cy="1417320"/>
          </a:xfrm>
          <a:prstGeom prst="roundRect">
            <a:avLst>
              <a:gd name="adj" fmla="val 5806"/>
            </a:avLst>
          </a:prstGeom>
          <a:solidFill>
            <a:srgbClr val="F4F6FD"/>
          </a:solidFill>
          <a:ln w="12700">
            <a:solidFill>
              <a:srgbClr val="DCE2F2"/>
            </a:solidFill>
            <a:prstDash val="solid"/>
          </a:ln>
        </p:spPr>
      </p:sp>
      <p:sp>
        <p:nvSpPr>
          <p:cNvPr id="25" name="Text 23"/>
          <p:cNvSpPr txBox="1"/>
          <p:nvPr/>
        </p:nvSpPr>
        <p:spPr>
          <a:xfrm>
            <a:off x="8046720" y="4206240"/>
            <a:ext cx="3291840" cy="914400"/>
          </a:xfrm>
          <a:prstGeom prst="rect">
            <a:avLst/>
          </a:prstGeom>
          <a:noFill/>
          <a:ln/>
        </p:spPr>
        <p:txBody>
          <a:bodyPr wrap="square" lIns="0" tIns="0" rIns="0" bIns="0" rtlCol="0" anchor="ctr"/>
          <a:lstStyle/>
          <a:p>
            <a:pPr indent="0" marL="0">
              <a:lnSpc>
                <a:spcPts val="2100"/>
              </a:lnSpc>
              <a:buNone/>
            </a:pPr>
            <a:r>
              <a:rPr lang="en-US" sz="1400" i="1" dirty="0">
                <a:solidFill>
                  <a:srgbClr val="16204A"/>
                </a:solidFill>
                <a:latin typeface="Cambria" pitchFamily="34" charset="0"/>
                <a:ea typeface="Cambria" pitchFamily="34" charset="-122"/>
                <a:cs typeface="Cambria" pitchFamily="34" charset="-120"/>
              </a:rPr>
              <a:t>“The internet never got its isnad.</a:t>
            </a:r>
            <a:endParaRPr lang="en-US" sz="1400" dirty="0"/>
          </a:p>
          <a:p>
            <a:pPr indent="0" marL="0">
              <a:lnSpc>
                <a:spcPts val="2100"/>
              </a:lnSpc>
              <a:buNone/>
            </a:pPr>
            <a:r>
              <a:rPr lang="en-US" sz="1400" i="1" dirty="0">
                <a:solidFill>
                  <a:srgbClr val="16204A"/>
                </a:solidFill>
                <a:latin typeface="Cambria" pitchFamily="34" charset="0"/>
                <a:ea typeface="Cambria" pitchFamily="34" charset="-122"/>
                <a:cs typeface="Cambria" pitchFamily="34" charset="-120"/>
              </a:rPr>
              <a:t>Every verdict this engine issues is one.”</a:t>
            </a:r>
            <a:endParaRPr lang="en-US" sz="1400" dirty="0"/>
          </a:p>
        </p:txBody>
      </p:sp>
      <p:sp>
        <p:nvSpPr>
          <p:cNvPr id="26" name="Text 24"/>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5A668F"/>
                </a:solidFill>
                <a:latin typeface="Courier New" pitchFamily="34" charset="0"/>
                <a:ea typeface="Courier New" pitchFamily="34" charset="-122"/>
                <a:cs typeface="Courier New" pitchFamily="34" charset="-120"/>
              </a:rPr>
              <a:t>ISNAD  ·  THEME 4  ·  THE SOLUTION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70B20"/>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E5BB59"/>
                </a:solidFill>
                <a:latin typeface="Courier New" pitchFamily="34" charset="0"/>
                <a:ea typeface="Courier New" pitchFamily="34" charset="-122"/>
                <a:cs typeface="Courier New" pitchFamily="34" charset="-120"/>
              </a:rPr>
              <a:t>THE MANDATORY AI AGENT LAYER — OBSERVED 7 SEPTEMBER, REPRODUCED DEPLOYED 9 SEPTEMBER 2026</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EEF2FF"/>
                </a:solidFill>
                <a:latin typeface="Cambria" pitchFamily="34" charset="0"/>
                <a:ea typeface="Cambria" pitchFamily="34" charset="-122"/>
                <a:cs typeface="Cambria" pitchFamily="34" charset="-120"/>
              </a:rPr>
              <a:t>The model chooses what to buy. Policy decides what it means.</a:t>
            </a:r>
            <a:endParaRPr lang="en-US" sz="3400" dirty="0"/>
          </a:p>
        </p:txBody>
      </p:sp>
      <p:sp>
        <p:nvSpPr>
          <p:cNvPr id="4" name="Shape 2"/>
          <p:cNvSpPr/>
          <p:nvPr/>
        </p:nvSpPr>
        <p:spPr>
          <a:xfrm>
            <a:off x="640080" y="2103120"/>
            <a:ext cx="10881360" cy="676656"/>
          </a:xfrm>
          <a:prstGeom prst="roundRect">
            <a:avLst>
              <a:gd name="adj" fmla="val 12162"/>
            </a:avLst>
          </a:prstGeom>
          <a:solidFill>
            <a:srgbClr val="0C1230"/>
          </a:solidFill>
          <a:ln w="12700">
            <a:solidFill>
              <a:srgbClr val="2D3B70"/>
            </a:solidFill>
            <a:prstDash val="solid"/>
          </a:ln>
        </p:spPr>
        <p:txBody>
          <a:bodyPr/>
          <a:p/>
        </p:txBody>
      </p:sp>
      <p:sp>
        <p:nvSpPr>
          <p:cNvPr id="5" name="Text 3"/>
          <p:cNvSpPr txBox="1"/>
          <p:nvPr/>
        </p:nvSpPr>
        <p:spPr>
          <a:xfrm>
            <a:off x="896112" y="2203704"/>
            <a:ext cx="2286000" cy="274320"/>
          </a:xfrm>
          <a:prstGeom prst="rect">
            <a:avLst/>
          </a:prstGeom>
          <a:noFill/>
          <a:ln/>
        </p:spPr>
        <p:txBody>
          <a:bodyPr wrap="square" lIns="0" tIns="0" rIns="0" bIns="0" rtlCol="0" anchor="ctr"/>
          <a:lstStyle/>
          <a:p>
            <a:pPr indent="0" marL="0">
              <a:buNone/>
            </a:pPr>
            <a:r>
              <a:rPr lang="en-US" sz="1300" b="1" dirty="0">
                <a:solidFill>
                  <a:srgbClr val="EEF2FF"/>
                </a:solidFill>
                <a:latin typeface="Calibri" pitchFamily="34" charset="0"/>
                <a:ea typeface="Calibri" pitchFamily="34" charset="-122"/>
                <a:cs typeface="Calibri" pitchFamily="34" charset="-120"/>
              </a:rPr>
              <a:t>SIM Swap</a:t>
            </a:r>
            <a:endParaRPr lang="en-US" sz="1300" dirty="0"/>
          </a:p>
        </p:txBody>
      </p:sp>
      <p:sp>
        <p:nvSpPr>
          <p:cNvPr id="6" name="Text 4"/>
          <p:cNvSpPr txBox="1"/>
          <p:nvPr/>
        </p:nvSpPr>
        <p:spPr>
          <a:xfrm>
            <a:off x="896112" y="2487168"/>
            <a:ext cx="2286000" cy="219456"/>
          </a:xfrm>
          <a:prstGeom prst="rect">
            <a:avLst/>
          </a:prstGeom>
          <a:noFill/>
          <a:ln/>
        </p:spPr>
        <p:txBody>
          <a:bodyPr wrap="square" lIns="0" tIns="0" rIns="0" bIns="0" rtlCol="0" anchor="ctr"/>
          <a:lstStyle/>
          <a:p>
            <a:pPr indent="0" marL="0">
              <a:buNone/>
            </a:pPr>
            <a:r>
              <a:rPr lang="en-US" sz="1000" b="1" dirty="0">
                <a:solidFill>
                  <a:srgbClr val="E5BB59"/>
                </a:solidFill>
                <a:latin typeface="Courier New" pitchFamily="34" charset="0"/>
                <a:ea typeface="Courier New" pitchFamily="34" charset="-122"/>
                <a:cs typeface="Courier New" pitchFamily="34" charset="-120"/>
              </a:rPr>
              <a:t>llm</a:t>
            </a:r>
            <a:endParaRPr lang="en-US" sz="1000" dirty="0"/>
          </a:p>
        </p:txBody>
      </p:sp>
      <p:sp>
        <p:nvSpPr>
          <p:cNvPr id="7" name="Text 5"/>
          <p:cNvSpPr txBox="1"/>
          <p:nvPr/>
        </p:nvSpPr>
        <p:spPr>
          <a:xfrm>
            <a:off x="3474720" y="2249424"/>
            <a:ext cx="7772400" cy="457200"/>
          </a:xfrm>
          <a:prstGeom prst="rect">
            <a:avLst/>
          </a:prstGeom>
          <a:noFill/>
          <a:ln/>
        </p:spPr>
        <p:txBody>
          <a:bodyPr wrap="square" lIns="0" tIns="0" rIns="0" bIns="0" rtlCol="0" anchor="ctr"/>
          <a:lstStyle/>
          <a:p>
            <a:pPr indent="0" marL="0">
              <a:lnSpc>
                <a:spcPts val="1600"/>
              </a:lnSpc>
              <a:buNone/>
            </a:pPr>
            <a:r>
              <a:rPr lang="en-US" sz="1200" i="1" dirty="0">
                <a:solidFill>
                  <a:srgbClr val="AAB5D4"/>
                </a:solidFill>
                <a:latin typeface="Calibri" pitchFamily="34" charset="0"/>
                <a:ea typeface="Calibri" pitchFamily="34" charset="-122"/>
                <a:cs typeface="Calibri" pitchFamily="34" charset="-120"/>
              </a:rPr>
              <a:t>“Checking for a recent SIM swap provides the highest relevant information value…”</a:t>
            </a:r>
            <a:endParaRPr lang="en-US" sz="1200" dirty="0"/>
          </a:p>
        </p:txBody>
      </p:sp>
      <p:sp>
        <p:nvSpPr>
          <p:cNvPr id="8" name="Shape 6"/>
          <p:cNvSpPr/>
          <p:nvPr/>
        </p:nvSpPr>
        <p:spPr>
          <a:xfrm>
            <a:off x="640080" y="2889504"/>
            <a:ext cx="10881360" cy="676656"/>
          </a:xfrm>
          <a:prstGeom prst="roundRect">
            <a:avLst>
              <a:gd name="adj" fmla="val 12162"/>
            </a:avLst>
          </a:prstGeom>
          <a:solidFill>
            <a:srgbClr val="0C1230"/>
          </a:solidFill>
          <a:ln w="12700">
            <a:solidFill>
              <a:srgbClr val="2D3B70"/>
            </a:solidFill>
            <a:prstDash val="solid"/>
          </a:ln>
        </p:spPr>
        <p:txBody>
          <a:bodyPr/>
          <a:p/>
        </p:txBody>
      </p:sp>
      <p:sp>
        <p:nvSpPr>
          <p:cNvPr id="9" name="Text 7"/>
          <p:cNvSpPr txBox="1"/>
          <p:nvPr/>
        </p:nvSpPr>
        <p:spPr>
          <a:xfrm>
            <a:off x="896112" y="2990088"/>
            <a:ext cx="2286000" cy="274320"/>
          </a:xfrm>
          <a:prstGeom prst="rect">
            <a:avLst/>
          </a:prstGeom>
          <a:noFill/>
          <a:ln/>
        </p:spPr>
        <p:txBody>
          <a:bodyPr wrap="square" lIns="0" tIns="0" rIns="0" bIns="0" rtlCol="0" anchor="ctr"/>
          <a:lstStyle/>
          <a:p>
            <a:pPr indent="0" marL="0">
              <a:buNone/>
            </a:pPr>
            <a:r>
              <a:rPr lang="en-US" sz="1300" b="1" dirty="0">
                <a:solidFill>
                  <a:srgbClr val="EEF2FF"/>
                </a:solidFill>
                <a:latin typeface="Calibri" pitchFamily="34" charset="0"/>
                <a:ea typeface="Calibri" pitchFamily="34" charset="-122"/>
                <a:cs typeface="Calibri" pitchFamily="34" charset="-120"/>
              </a:rPr>
              <a:t>Device Swap</a:t>
            </a:r>
            <a:endParaRPr lang="en-US" sz="1300" dirty="0"/>
          </a:p>
        </p:txBody>
      </p:sp>
      <p:sp>
        <p:nvSpPr>
          <p:cNvPr id="10" name="Text 8"/>
          <p:cNvSpPr txBox="1"/>
          <p:nvPr/>
        </p:nvSpPr>
        <p:spPr>
          <a:xfrm>
            <a:off x="896112" y="3273552"/>
            <a:ext cx="2286000" cy="219456"/>
          </a:xfrm>
          <a:prstGeom prst="rect">
            <a:avLst/>
          </a:prstGeom>
          <a:noFill/>
          <a:ln/>
        </p:spPr>
        <p:txBody>
          <a:bodyPr wrap="square" lIns="0" tIns="0" rIns="0" bIns="0" rtlCol="0" anchor="ctr"/>
          <a:lstStyle/>
          <a:p>
            <a:pPr indent="0" marL="0">
              <a:buNone/>
            </a:pPr>
            <a:r>
              <a:rPr lang="en-US" sz="1000" b="1" dirty="0">
                <a:solidFill>
                  <a:srgbClr val="56D3A0"/>
                </a:solidFill>
                <a:latin typeface="Courier New" pitchFamily="34" charset="0"/>
                <a:ea typeface="Courier New" pitchFamily="34" charset="-122"/>
                <a:cs typeface="Courier New" pitchFamily="34" charset="-120"/>
              </a:rPr>
              <a:t>policy</a:t>
            </a:r>
            <a:endParaRPr lang="en-US" sz="1000" dirty="0"/>
          </a:p>
        </p:txBody>
      </p:sp>
      <p:sp>
        <p:nvSpPr>
          <p:cNvPr id="11" name="Text 9"/>
          <p:cNvSpPr txBox="1"/>
          <p:nvPr/>
        </p:nvSpPr>
        <p:spPr>
          <a:xfrm>
            <a:off x="3474720" y="3035808"/>
            <a:ext cx="7772400" cy="457200"/>
          </a:xfrm>
          <a:prstGeom prst="rect">
            <a:avLst/>
          </a:prstGeom>
          <a:noFill/>
          <a:ln/>
        </p:spPr>
        <p:txBody>
          <a:bodyPr wrap="square" lIns="0" tIns="0" rIns="0" bIns="0" rtlCol="0" anchor="ctr"/>
          <a:lstStyle/>
          <a:p>
            <a:pPr indent="0" marL="0">
              <a:lnSpc>
                <a:spcPts val="1600"/>
              </a:lnSpc>
              <a:buNone/>
            </a:pPr>
            <a:r>
              <a:rPr lang="en-US" sz="1200" i="1" dirty="0">
                <a:solidFill>
                  <a:srgbClr val="AAB5D4"/>
                </a:solidFill>
                <a:latin typeface="Calibri" pitchFamily="34" charset="0"/>
                <a:ea typeface="Calibri" pitchFamily="34" charset="-122"/>
                <a:cs typeface="Calibri" pitchFamily="34" charset="-120"/>
              </a:rPr>
              <a:t>“corroborate before this signal alone can decline”</a:t>
            </a:r>
            <a:endParaRPr lang="en-US" sz="1200" dirty="0"/>
          </a:p>
        </p:txBody>
      </p:sp>
      <p:sp>
        <p:nvSpPr>
          <p:cNvPr id="12" name="Shape 10"/>
          <p:cNvSpPr/>
          <p:nvPr/>
        </p:nvSpPr>
        <p:spPr>
          <a:xfrm>
            <a:off x="640080" y="3675888"/>
            <a:ext cx="10881360" cy="676656"/>
          </a:xfrm>
          <a:prstGeom prst="roundRect">
            <a:avLst>
              <a:gd name="adj" fmla="val 12162"/>
            </a:avLst>
          </a:prstGeom>
          <a:solidFill>
            <a:srgbClr val="0C1230"/>
          </a:solidFill>
          <a:ln w="12700">
            <a:solidFill>
              <a:srgbClr val="2D3B70"/>
            </a:solidFill>
            <a:prstDash val="solid"/>
          </a:ln>
        </p:spPr>
        <p:txBody>
          <a:bodyPr/>
          <a:p/>
        </p:txBody>
      </p:sp>
      <p:sp>
        <p:nvSpPr>
          <p:cNvPr id="13" name="Text 11"/>
          <p:cNvSpPr txBox="1"/>
          <p:nvPr/>
        </p:nvSpPr>
        <p:spPr>
          <a:xfrm>
            <a:off x="896112" y="3776472"/>
            <a:ext cx="2286000" cy="274320"/>
          </a:xfrm>
          <a:prstGeom prst="rect">
            <a:avLst/>
          </a:prstGeom>
          <a:noFill/>
          <a:ln/>
        </p:spPr>
        <p:txBody>
          <a:bodyPr wrap="square" lIns="0" tIns="0" rIns="0" bIns="0" rtlCol="0" anchor="ctr"/>
          <a:lstStyle/>
          <a:p>
            <a:pPr indent="0" marL="0">
              <a:buNone/>
            </a:pPr>
            <a:r>
              <a:rPr lang="en-US" sz="1300" b="1" dirty="0">
                <a:solidFill>
                  <a:srgbClr val="EEF2FF"/>
                </a:solidFill>
                <a:latin typeface="Calibri" pitchFamily="34" charset="0"/>
                <a:ea typeface="Calibri" pitchFamily="34" charset="-122"/>
                <a:cs typeface="Calibri" pitchFamily="34" charset="-120"/>
              </a:rPr>
              <a:t>STOP</a:t>
            </a:r>
            <a:endParaRPr lang="en-US" sz="1300" dirty="0"/>
          </a:p>
        </p:txBody>
      </p:sp>
      <p:sp>
        <p:nvSpPr>
          <p:cNvPr id="14" name="Text 12"/>
          <p:cNvSpPr txBox="1"/>
          <p:nvPr/>
        </p:nvSpPr>
        <p:spPr>
          <a:xfrm>
            <a:off x="896112" y="4059936"/>
            <a:ext cx="2286000" cy="219456"/>
          </a:xfrm>
          <a:prstGeom prst="rect">
            <a:avLst/>
          </a:prstGeom>
          <a:noFill/>
          <a:ln/>
        </p:spPr>
        <p:txBody>
          <a:bodyPr wrap="square" lIns="0" tIns="0" rIns="0" bIns="0" rtlCol="0" anchor="ctr"/>
          <a:lstStyle/>
          <a:p>
            <a:pPr indent="0" marL="0">
              <a:buNone/>
            </a:pPr>
            <a:r>
              <a:rPr lang="en-US" sz="1000" b="1" dirty="0">
                <a:solidFill>
                  <a:srgbClr val="E5BB59"/>
                </a:solidFill>
                <a:latin typeface="Courier New" pitchFamily="34" charset="0"/>
                <a:ea typeface="Courier New" pitchFamily="34" charset="-122"/>
                <a:cs typeface="Courier New" pitchFamily="34" charset="-120"/>
              </a:rPr>
              <a:t>llm</a:t>
            </a:r>
            <a:endParaRPr lang="en-US" sz="1000" dirty="0"/>
          </a:p>
        </p:txBody>
      </p:sp>
      <p:sp>
        <p:nvSpPr>
          <p:cNvPr id="15" name="Text 13"/>
          <p:cNvSpPr txBox="1"/>
          <p:nvPr/>
        </p:nvSpPr>
        <p:spPr>
          <a:xfrm>
            <a:off x="3474720" y="3822192"/>
            <a:ext cx="7772400" cy="457200"/>
          </a:xfrm>
          <a:prstGeom prst="rect">
            <a:avLst/>
          </a:prstGeom>
          <a:noFill/>
          <a:ln/>
        </p:spPr>
        <p:txBody>
          <a:bodyPr wrap="square" lIns="0" tIns="0" rIns="0" bIns="0" rtlCol="0" anchor="ctr"/>
          <a:lstStyle/>
          <a:p>
            <a:pPr indent="0" marL="0">
              <a:lnSpc>
                <a:spcPts val="1600"/>
              </a:lnSpc>
              <a:buNone/>
            </a:pPr>
            <a:r>
              <a:rPr lang="en-US" sz="1200" i="1" dirty="0">
                <a:solidFill>
                  <a:srgbClr val="AAB5D4"/>
                </a:solidFill>
                <a:latin typeface="Calibri" pitchFamily="34" charset="0"/>
                <a:ea typeface="Calibri" pitchFamily="34" charset="-122"/>
                <a:cs typeface="Calibri" pitchFamily="34" charset="-120"/>
              </a:rPr>
              <a:t>“None of the remaining affordable actions are relevant…”</a:t>
            </a:r>
            <a:endParaRPr lang="en-US" sz="1200" dirty="0"/>
          </a:p>
        </p:txBody>
      </p:sp>
      <p:sp>
        <p:nvSpPr>
          <p:cNvPr id="16" name="Shape 14"/>
          <p:cNvSpPr/>
          <p:nvPr/>
        </p:nvSpPr>
        <p:spPr>
          <a:xfrm>
            <a:off x="640080" y="4462272"/>
            <a:ext cx="10881360" cy="676656"/>
          </a:xfrm>
          <a:prstGeom prst="roundRect">
            <a:avLst>
              <a:gd name="adj" fmla="val 12162"/>
            </a:avLst>
          </a:prstGeom>
          <a:solidFill>
            <a:srgbClr val="0C1230"/>
          </a:solidFill>
          <a:ln w="12700">
            <a:solidFill>
              <a:srgbClr val="2D3B70"/>
            </a:solidFill>
            <a:prstDash val="solid"/>
          </a:ln>
        </p:spPr>
        <p:txBody>
          <a:bodyPr/>
          <a:p/>
        </p:txBody>
      </p:sp>
      <p:sp>
        <p:nvSpPr>
          <p:cNvPr id="17" name="Text 15"/>
          <p:cNvSpPr txBox="1"/>
          <p:nvPr/>
        </p:nvSpPr>
        <p:spPr>
          <a:xfrm>
            <a:off x="896112" y="4562856"/>
            <a:ext cx="2286000" cy="274320"/>
          </a:xfrm>
          <a:prstGeom prst="rect">
            <a:avLst/>
          </a:prstGeom>
          <a:noFill/>
          <a:ln/>
        </p:spPr>
        <p:txBody>
          <a:bodyPr wrap="square" lIns="0" tIns="0" rIns="0" bIns="0" rtlCol="0" anchor="ctr"/>
          <a:lstStyle/>
          <a:p>
            <a:pPr indent="0" marL="0">
              <a:buNone/>
            </a:pPr>
            <a:r>
              <a:rPr lang="en-US" sz="1300" b="1" dirty="0">
                <a:solidFill>
                  <a:srgbClr val="EEF2FF"/>
                </a:solidFill>
                <a:latin typeface="Calibri" pitchFamily="34" charset="0"/>
                <a:ea typeface="Calibri" pitchFamily="34" charset="-122"/>
                <a:cs typeface="Calibri" pitchFamily="34" charset="-120"/>
              </a:rPr>
              <a:t>Number Verification</a:t>
            </a:r>
            <a:endParaRPr lang="en-US" sz="1300" dirty="0"/>
          </a:p>
        </p:txBody>
      </p:sp>
      <p:sp>
        <p:nvSpPr>
          <p:cNvPr id="18" name="Text 16"/>
          <p:cNvSpPr txBox="1"/>
          <p:nvPr/>
        </p:nvSpPr>
        <p:spPr>
          <a:xfrm>
            <a:off x="896112" y="4846320"/>
            <a:ext cx="2286000" cy="219456"/>
          </a:xfrm>
          <a:prstGeom prst="rect">
            <a:avLst/>
          </a:prstGeom>
          <a:noFill/>
          <a:ln/>
        </p:spPr>
        <p:txBody>
          <a:bodyPr wrap="square" lIns="0" tIns="0" rIns="0" bIns="0" rtlCol="0" anchor="ctr"/>
          <a:lstStyle/>
          <a:p>
            <a:pPr indent="0" marL="0">
              <a:buNone/>
            </a:pPr>
            <a:r>
              <a:rPr lang="en-US" sz="1000" b="1" dirty="0">
                <a:solidFill>
                  <a:srgbClr val="56D3A0"/>
                </a:solidFill>
                <a:latin typeface="Courier New" pitchFamily="34" charset="0"/>
                <a:ea typeface="Courier New" pitchFamily="34" charset="-122"/>
                <a:cs typeface="Courier New" pitchFamily="34" charset="-120"/>
              </a:rPr>
              <a:t>policy</a:t>
            </a:r>
            <a:endParaRPr lang="en-US" sz="1000" dirty="0"/>
          </a:p>
        </p:txBody>
      </p:sp>
      <p:sp>
        <p:nvSpPr>
          <p:cNvPr id="19" name="Text 17"/>
          <p:cNvSpPr txBox="1"/>
          <p:nvPr/>
        </p:nvSpPr>
        <p:spPr>
          <a:xfrm>
            <a:off x="3474720" y="4608576"/>
            <a:ext cx="7772400" cy="457200"/>
          </a:xfrm>
          <a:prstGeom prst="rect">
            <a:avLst/>
          </a:prstGeom>
          <a:noFill/>
          <a:ln/>
        </p:spPr>
        <p:txBody>
          <a:bodyPr wrap="square" lIns="0" tIns="0" rIns="0" bIns="0" rtlCol="0" anchor="ctr"/>
          <a:lstStyle/>
          <a:p>
            <a:pPr indent="0" marL="0">
              <a:lnSpc>
                <a:spcPts val="1600"/>
              </a:lnSpc>
              <a:buNone/>
            </a:pPr>
            <a:r>
              <a:rPr lang="en-US" sz="1200" i="1" dirty="0">
                <a:solidFill>
                  <a:srgbClr val="AAB5D4"/>
                </a:solidFill>
                <a:latin typeface="Calibri" pitchFamily="34" charset="0"/>
                <a:ea typeface="Calibri" pitchFamily="34" charset="-122"/>
                <a:cs typeface="Calibri" pitchFamily="34" charset="-120"/>
              </a:rPr>
              <a:t>“cheapest step that could resolve the doubt”</a:t>
            </a:r>
            <a:endParaRPr lang="en-US" sz="1200" dirty="0"/>
          </a:p>
        </p:txBody>
      </p:sp>
      <p:sp>
        <p:nvSpPr>
          <p:cNvPr id="20" name="Text 18"/>
          <p:cNvSpPr txBox="1"/>
          <p:nvPr/>
        </p:nvSpPr>
        <p:spPr>
          <a:xfrm>
            <a:off x="640080" y="5394960"/>
            <a:ext cx="10881360" cy="685800"/>
          </a:xfrm>
          <a:prstGeom prst="rect">
            <a:avLst/>
          </a:prstGeom>
          <a:noFill/>
          <a:ln/>
        </p:spPr>
        <p:txBody>
          <a:bodyPr wrap="square" lIns="0" tIns="0" rIns="0" bIns="0" rtlCol="0" anchor="ctr"/>
          <a:lstStyle/>
          <a:p>
            <a:pPr indent="0" marL="0">
              <a:lnSpc>
                <a:spcPts val="1900"/>
              </a:lnSpc>
              <a:buNone/>
            </a:pPr>
            <a:r>
              <a:rPr lang="en-US" sz="1300" dirty="0">
                <a:solidFill>
                  <a:srgbClr val="EEF2FF"/>
                </a:solidFill>
                <a:latin typeface="Calibri" pitchFamily="34" charset="0"/>
                <a:ea typeface="Calibri" pitchFamily="34" charset="-122"/>
                <a:cs typeface="Calibri" pitchFamily="34" charset="-120"/>
              </a:rPr>
              <a:t>Gemini opened with one adverse signal. Policy would not let one signal carry a decline. The model then said stop — and policy overruled it. The adverse case recorded the same boundary again on 9 September, on the deployed site against real Nokia calls: sim_swap chosen by the model, device_swap required by policy.</a:t>
            </a:r>
            <a:endParaRPr lang="en-US" sz="1300" dirty="0"/>
          </a:p>
        </p:txBody>
      </p:sp>
      <p:sp>
        <p:nvSpPr>
          <p:cNvPr id="21" name="Text 19"/>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AAB5D4"/>
                </a:solidFill>
                <a:latin typeface="Courier New" pitchFamily="34" charset="0"/>
                <a:ea typeface="Courier New" pitchFamily="34" charset="-122"/>
                <a:cs typeface="Courier New" pitchFamily="34" charset="-120"/>
              </a:rPr>
              <a:t>RECORDED 2026-09-07-gemini-judge-run.json  ·  DEPLOYED REAL NOKIA 2026-09-09-deployed-judge-smoke.json  ·  GEMINI</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B8860B"/>
                </a:solidFill>
                <a:latin typeface="Courier New" pitchFamily="34" charset="0"/>
                <a:ea typeface="Courier New" pitchFamily="34" charset="-122"/>
                <a:cs typeface="Courier New" pitchFamily="34" charset="-120"/>
              </a:rPr>
              <a:t>OPEN GATEWAY INTEGRATION</a:t>
            </a:r>
            <a:endParaRPr lang="en-US" sz="1100" dirty="0"/>
          </a:p>
        </p:txBody>
      </p:sp>
      <p:sp>
        <p:nvSpPr>
          <p:cNvPr id="3" name="Text 1"/>
          <p:cNvSpPr txBox="1"/>
          <p:nvPr/>
        </p:nvSpPr>
        <p:spPr>
          <a:xfrm>
            <a:off x="640080" y="868680"/>
            <a:ext cx="10881360" cy="566928"/>
          </a:xfrm>
          <a:prstGeom prst="rect">
            <a:avLst/>
          </a:prstGeom>
          <a:noFill/>
          <a:ln/>
        </p:spPr>
        <p:txBody>
          <a:bodyPr wrap="square" lIns="0" tIns="0" rIns="0" bIns="0" rtlCol="0" anchor="t"/>
          <a:lstStyle/>
          <a:p>
            <a:pPr indent="0" marL="0">
              <a:lnSpc>
                <a:spcPts val="3800"/>
              </a:lnSpc>
              <a:buNone/>
            </a:pPr>
            <a:r>
              <a:rPr lang="en-US" sz="3200" b="1" dirty="0">
                <a:solidFill>
                  <a:srgbClr val="16204A"/>
                </a:solidFill>
                <a:latin typeface="Cambria" pitchFamily="34" charset="0"/>
                <a:ea typeface="Cambria" pitchFamily="34" charset="-122"/>
                <a:cs typeface="Cambria" pitchFamily="34" charset="-120"/>
              </a:rPr>
              <a:t>Eight CAMARA APIs, chosen at run time.</a:t>
            </a:r>
            <a:endParaRPr lang="en-US" sz="3200" dirty="0"/>
          </a:p>
        </p:txBody>
      </p:sp>
      <p:sp>
        <p:nvSpPr>
          <p:cNvPr id="4" name="Text 2"/>
          <p:cNvSpPr txBox="1"/>
          <p:nvPr/>
        </p:nvSpPr>
        <p:spPr>
          <a:xfrm>
            <a:off x="640080" y="1481328"/>
            <a:ext cx="10881360" cy="320040"/>
          </a:xfrm>
          <a:prstGeom prst="rect">
            <a:avLst/>
          </a:prstGeom>
          <a:noFill/>
          <a:ln/>
        </p:spPr>
        <p:txBody>
          <a:bodyPr wrap="square" lIns="0" tIns="0" rIns="0" bIns="0" rtlCol="0" anchor="ctr"/>
          <a:lstStyle/>
          <a:p>
            <a:pPr indent="0" marL="0">
              <a:buNone/>
            </a:pPr>
            <a:r>
              <a:rPr lang="en-US" sz="1250" dirty="0">
                <a:solidFill>
                  <a:srgbClr val="5A668F"/>
                </a:solidFill>
                <a:latin typeface="Calibri" pitchFamily="34" charset="0"/>
                <a:ea typeface="Calibri" pitchFamily="34" charset="-122"/>
                <a:cs typeface="Calibri" pitchFamily="34" charset="-120"/>
              </a:rPr>
              <a:t>Not one of them is wired to a button. The agent selects each evidence call from the hypothesis, the evidence so far, and the budget it has left.</a:t>
            </a:r>
            <a:endParaRPr lang="en-US" sz="1250" dirty="0"/>
          </a:p>
        </p:txBody>
      </p:sp>
      <p:sp>
        <p:nvSpPr>
          <p:cNvPr id="5" name="Text 3"/>
          <p:cNvSpPr txBox="1"/>
          <p:nvPr/>
        </p:nvSpPr>
        <p:spPr>
          <a:xfrm>
            <a:off x="640080" y="2020824"/>
            <a:ext cx="2743200" cy="256032"/>
          </a:xfrm>
          <a:prstGeom prst="rect">
            <a:avLst/>
          </a:prstGeom>
          <a:noFill/>
          <a:ln/>
        </p:spPr>
        <p:txBody>
          <a:bodyPr wrap="square" lIns="0" tIns="0" rIns="0" bIns="0" rtlCol="0" anchor="ctr"/>
          <a:lstStyle/>
          <a:p>
            <a:pPr indent="0" marL="0">
              <a:buNone/>
            </a:pPr>
            <a:r>
              <a:rPr lang="en-US" sz="900" b="1" spc="150" kern="0" dirty="0">
                <a:solidFill>
                  <a:srgbClr val="5A668F"/>
                </a:solidFill>
                <a:latin typeface="Courier New" pitchFamily="34" charset="0"/>
                <a:ea typeface="Courier New" pitchFamily="34" charset="-122"/>
                <a:cs typeface="Courier New" pitchFamily="34" charset="-120"/>
              </a:rPr>
              <a:t>CAMARA API</a:t>
            </a:r>
            <a:endParaRPr lang="en-US" sz="900" dirty="0"/>
          </a:p>
        </p:txBody>
      </p:sp>
      <p:sp>
        <p:nvSpPr>
          <p:cNvPr id="6" name="Text 4"/>
          <p:cNvSpPr txBox="1"/>
          <p:nvPr/>
        </p:nvSpPr>
        <p:spPr>
          <a:xfrm>
            <a:off x="3474720" y="2020824"/>
            <a:ext cx="5120640" cy="256032"/>
          </a:xfrm>
          <a:prstGeom prst="rect">
            <a:avLst/>
          </a:prstGeom>
          <a:noFill/>
          <a:ln/>
        </p:spPr>
        <p:txBody>
          <a:bodyPr wrap="square" lIns="0" tIns="0" rIns="0" bIns="0" rtlCol="0" anchor="ctr"/>
          <a:lstStyle/>
          <a:p>
            <a:pPr indent="0" marL="0">
              <a:buNone/>
            </a:pPr>
            <a:r>
              <a:rPr lang="en-US" sz="900" b="1" spc="150" kern="0" dirty="0">
                <a:solidFill>
                  <a:srgbClr val="5A668F"/>
                </a:solidFill>
                <a:latin typeface="Courier New" pitchFamily="34" charset="0"/>
                <a:ea typeface="Courier New" pitchFamily="34" charset="-122"/>
                <a:cs typeface="Courier New" pitchFamily="34" charset="-120"/>
              </a:rPr>
              <a:t>ROLE IN THE EVIDENCE CHAIN</a:t>
            </a:r>
            <a:endParaRPr lang="en-US" sz="900" dirty="0"/>
          </a:p>
        </p:txBody>
      </p:sp>
      <p:sp>
        <p:nvSpPr>
          <p:cNvPr id="7" name="Text 5"/>
          <p:cNvSpPr txBox="1"/>
          <p:nvPr/>
        </p:nvSpPr>
        <p:spPr>
          <a:xfrm>
            <a:off x="8732520" y="2020824"/>
            <a:ext cx="640080" cy="256032"/>
          </a:xfrm>
          <a:prstGeom prst="rect">
            <a:avLst/>
          </a:prstGeom>
          <a:noFill/>
          <a:ln/>
        </p:spPr>
        <p:txBody>
          <a:bodyPr wrap="square" lIns="0" tIns="0" rIns="0" bIns="0" rtlCol="0" anchor="ctr"/>
          <a:lstStyle/>
          <a:p>
            <a:pPr indent="0" marL="0">
              <a:buNone/>
            </a:pPr>
            <a:r>
              <a:rPr lang="en-US" sz="900" b="1" spc="150" kern="0" dirty="0">
                <a:solidFill>
                  <a:srgbClr val="5A668F"/>
                </a:solidFill>
                <a:latin typeface="Courier New" pitchFamily="34" charset="0"/>
                <a:ea typeface="Courier New" pitchFamily="34" charset="-122"/>
                <a:cs typeface="Courier New" pitchFamily="34" charset="-120"/>
              </a:rPr>
              <a:t>COST</a:t>
            </a:r>
            <a:endParaRPr lang="en-US" sz="900" dirty="0"/>
          </a:p>
        </p:txBody>
      </p:sp>
      <p:sp>
        <p:nvSpPr>
          <p:cNvPr id="8" name="Text 6"/>
          <p:cNvSpPr txBox="1"/>
          <p:nvPr/>
        </p:nvSpPr>
        <p:spPr>
          <a:xfrm>
            <a:off x="9509760" y="2020824"/>
            <a:ext cx="2103120" cy="256032"/>
          </a:xfrm>
          <a:prstGeom prst="rect">
            <a:avLst/>
          </a:prstGeom>
          <a:noFill/>
          <a:ln/>
        </p:spPr>
        <p:txBody>
          <a:bodyPr wrap="square" lIns="0" tIns="0" rIns="0" bIns="0" rtlCol="0" anchor="ctr"/>
          <a:lstStyle/>
          <a:p>
            <a:pPr indent="0" marL="0">
              <a:buNone/>
            </a:pPr>
            <a:r>
              <a:rPr lang="en-US" sz="900" b="1" spc="150" kern="0" dirty="0">
                <a:solidFill>
                  <a:srgbClr val="5A668F"/>
                </a:solidFill>
                <a:latin typeface="Courier New" pitchFamily="34" charset="0"/>
                <a:ea typeface="Courier New" pitchFamily="34" charset="-122"/>
                <a:cs typeface="Courier New" pitchFamily="34" charset="-120"/>
              </a:rPr>
              <a:t>RECORDED AGAINST NOKIA</a:t>
            </a:r>
            <a:endParaRPr lang="en-US" sz="900" dirty="0"/>
          </a:p>
        </p:txBody>
      </p:sp>
      <p:sp>
        <p:nvSpPr>
          <p:cNvPr id="9" name="Shape 7"/>
          <p:cNvSpPr/>
          <p:nvPr/>
        </p:nvSpPr>
        <p:spPr>
          <a:xfrm>
            <a:off x="530352" y="2295144"/>
            <a:ext cx="11100816" cy="402336"/>
          </a:xfrm>
          <a:prstGeom prst="rect">
            <a:avLst/>
          </a:prstGeom>
          <a:solidFill>
            <a:srgbClr val="F4F6FD"/>
          </a:solidFill>
          <a:ln w="12700">
            <a:solidFill>
              <a:srgbClr val="333333"/>
            </a:solidFill>
            <a:prstDash val="solid"/>
          </a:ln>
        </p:spPr>
      </p:sp>
      <p:sp>
        <p:nvSpPr>
          <p:cNvPr id="10" name="Text 8"/>
          <p:cNvSpPr txBox="1"/>
          <p:nvPr/>
        </p:nvSpPr>
        <p:spPr>
          <a:xfrm>
            <a:off x="640080" y="2331720"/>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Number Verification</a:t>
            </a:r>
            <a:endParaRPr lang="en-US" sz="1150" dirty="0"/>
          </a:p>
        </p:txBody>
      </p:sp>
      <p:sp>
        <p:nvSpPr>
          <p:cNvPr id="11" name="Text 9"/>
          <p:cNvSpPr txBox="1"/>
          <p:nvPr/>
        </p:nvSpPr>
        <p:spPr>
          <a:xfrm>
            <a:off x="3474720" y="2331720"/>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Proves the number belongs to this device. Replaces the OTP.</a:t>
            </a:r>
            <a:endParaRPr lang="en-US" sz="1100" dirty="0"/>
          </a:p>
        </p:txBody>
      </p:sp>
      <p:sp>
        <p:nvSpPr>
          <p:cNvPr id="12" name="Text 10"/>
          <p:cNvSpPr txBox="1"/>
          <p:nvPr/>
        </p:nvSpPr>
        <p:spPr>
          <a:xfrm>
            <a:off x="8732520" y="2331720"/>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1</a:t>
            </a:r>
            <a:endParaRPr lang="en-US" sz="1100" dirty="0"/>
          </a:p>
        </p:txBody>
      </p:sp>
      <p:sp>
        <p:nvSpPr>
          <p:cNvPr id="13" name="Text 11"/>
          <p:cNvSpPr txBox="1"/>
          <p:nvPr/>
        </p:nvSpPr>
        <p:spPr>
          <a:xfrm>
            <a:off x="9509760" y="2331720"/>
            <a:ext cx="2194560" cy="310896"/>
          </a:xfrm>
          <a:prstGeom prst="rect">
            <a:avLst/>
          </a:prstGeom>
          <a:noFill/>
          <a:ln/>
        </p:spPr>
        <p:txBody>
          <a:bodyPr wrap="square" lIns="0" tIns="0" rIns="0" bIns="0" rtlCol="0" anchor="ctr"/>
          <a:lstStyle/>
          <a:p>
            <a:pPr indent="0" marL="0">
              <a:buNone/>
            </a:pPr>
            <a:r>
              <a:rPr lang="en-US" sz="950" dirty="0">
                <a:solidFill>
                  <a:srgbClr val="5A668F"/>
                </a:solidFill>
                <a:latin typeface="Courier New" pitchFamily="34" charset="0"/>
                <a:ea typeface="Courier New" pitchFamily="34" charset="-122"/>
                <a:cs typeface="Courier New" pitchFamily="34" charset="-120"/>
              </a:rPr>
              <a:t>Sandbox</a:t>
            </a:r>
            <a:endParaRPr lang="en-US" sz="950" dirty="0"/>
          </a:p>
        </p:txBody>
      </p:sp>
      <p:sp>
        <p:nvSpPr>
          <p:cNvPr id="14" name="Text 12"/>
          <p:cNvSpPr txBox="1"/>
          <p:nvPr/>
        </p:nvSpPr>
        <p:spPr>
          <a:xfrm>
            <a:off x="640080" y="2734056"/>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SIM Swap</a:t>
            </a:r>
            <a:endParaRPr lang="en-US" sz="1150" dirty="0"/>
          </a:p>
        </p:txBody>
      </p:sp>
      <p:sp>
        <p:nvSpPr>
          <p:cNvPr id="15" name="Text 13"/>
          <p:cNvSpPr txBox="1"/>
          <p:nvPr/>
        </p:nvSpPr>
        <p:spPr>
          <a:xfrm>
            <a:off x="3474720" y="2734056"/>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The primary account-takeover signal.</a:t>
            </a:r>
            <a:endParaRPr lang="en-US" sz="1100" dirty="0"/>
          </a:p>
        </p:txBody>
      </p:sp>
      <p:sp>
        <p:nvSpPr>
          <p:cNvPr id="16" name="Text 14"/>
          <p:cNvSpPr txBox="1"/>
          <p:nvPr/>
        </p:nvSpPr>
        <p:spPr>
          <a:xfrm>
            <a:off x="8732520" y="2734056"/>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2</a:t>
            </a:r>
            <a:endParaRPr lang="en-US" sz="1100" dirty="0"/>
          </a:p>
        </p:txBody>
      </p:sp>
      <p:sp>
        <p:nvSpPr>
          <p:cNvPr id="17" name="Text 15"/>
          <p:cNvSpPr txBox="1"/>
          <p:nvPr/>
        </p:nvSpPr>
        <p:spPr>
          <a:xfrm>
            <a:off x="9509760" y="2734056"/>
            <a:ext cx="2194560" cy="310896"/>
          </a:xfrm>
          <a:prstGeom prst="rect">
            <a:avLst/>
          </a:prstGeom>
          <a:noFill/>
          <a:ln/>
        </p:spPr>
        <p:txBody>
          <a:bodyPr wrap="square" lIns="0" tIns="0" rIns="0" bIns="0" rtlCol="0" anchor="ctr"/>
          <a:lstStyle/>
          <a:p>
            <a:pPr indent="0" marL="0">
              <a:buNone/>
            </a:pPr>
            <a:r>
              <a:rPr lang="en-US" sz="950" b="1" dirty="0">
                <a:solidFill>
                  <a:srgbClr val="0E7A56"/>
                </a:solidFill>
                <a:latin typeface="Courier New" pitchFamily="34" charset="0"/>
                <a:ea typeface="Courier New" pitchFamily="34" charset="-122"/>
                <a:cs typeface="Courier New" pitchFamily="34" charset="-120"/>
              </a:rPr>
              <a:t>Hosted simulator</a:t>
            </a:r>
            <a:endParaRPr lang="en-US" sz="950" dirty="0"/>
          </a:p>
        </p:txBody>
      </p:sp>
      <p:sp>
        <p:nvSpPr>
          <p:cNvPr id="18" name="Shape 16"/>
          <p:cNvSpPr/>
          <p:nvPr/>
        </p:nvSpPr>
        <p:spPr>
          <a:xfrm>
            <a:off x="530352" y="3099816"/>
            <a:ext cx="11100816" cy="402336"/>
          </a:xfrm>
          <a:prstGeom prst="rect">
            <a:avLst/>
          </a:prstGeom>
          <a:solidFill>
            <a:srgbClr val="F4F6FD"/>
          </a:solidFill>
          <a:ln w="12700">
            <a:solidFill>
              <a:srgbClr val="333333"/>
            </a:solidFill>
            <a:prstDash val="solid"/>
          </a:ln>
        </p:spPr>
      </p:sp>
      <p:sp>
        <p:nvSpPr>
          <p:cNvPr id="19" name="Text 17"/>
          <p:cNvSpPr txBox="1"/>
          <p:nvPr/>
        </p:nvSpPr>
        <p:spPr>
          <a:xfrm>
            <a:off x="640080" y="3136392"/>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Device Swap</a:t>
            </a:r>
            <a:endParaRPr lang="en-US" sz="1150" dirty="0"/>
          </a:p>
        </p:txBody>
      </p:sp>
      <p:sp>
        <p:nvSpPr>
          <p:cNvPr id="20" name="Text 18"/>
          <p:cNvSpPr txBox="1"/>
          <p:nvPr/>
        </p:nvSpPr>
        <p:spPr>
          <a:xfrm>
            <a:off x="3474720" y="3136392"/>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The mule-phone signal, and the corroborator that saves customers.</a:t>
            </a:r>
            <a:endParaRPr lang="en-US" sz="1100" dirty="0"/>
          </a:p>
        </p:txBody>
      </p:sp>
      <p:sp>
        <p:nvSpPr>
          <p:cNvPr id="21" name="Text 19"/>
          <p:cNvSpPr txBox="1"/>
          <p:nvPr/>
        </p:nvSpPr>
        <p:spPr>
          <a:xfrm>
            <a:off x="8732520" y="3136392"/>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2</a:t>
            </a:r>
            <a:endParaRPr lang="en-US" sz="1100" dirty="0"/>
          </a:p>
        </p:txBody>
      </p:sp>
      <p:sp>
        <p:nvSpPr>
          <p:cNvPr id="22" name="Text 20"/>
          <p:cNvSpPr txBox="1"/>
          <p:nvPr/>
        </p:nvSpPr>
        <p:spPr>
          <a:xfrm>
            <a:off x="9509760" y="3136392"/>
            <a:ext cx="2194560" cy="310896"/>
          </a:xfrm>
          <a:prstGeom prst="rect">
            <a:avLst/>
          </a:prstGeom>
          <a:noFill/>
          <a:ln/>
        </p:spPr>
        <p:txBody>
          <a:bodyPr wrap="square" lIns="0" tIns="0" rIns="0" bIns="0" rtlCol="0" anchor="ctr"/>
          <a:lstStyle/>
          <a:p>
            <a:pPr indent="0" marL="0">
              <a:buNone/>
            </a:pPr>
            <a:r>
              <a:rPr lang="en-US" sz="950" b="1" dirty="0">
                <a:solidFill>
                  <a:srgbClr val="0E7A56"/>
                </a:solidFill>
                <a:latin typeface="Courier New" pitchFamily="34" charset="0"/>
                <a:ea typeface="Courier New" pitchFamily="34" charset="-122"/>
                <a:cs typeface="Courier New" pitchFamily="34" charset="-120"/>
              </a:rPr>
              <a:t>Hosted simulator</a:t>
            </a:r>
            <a:endParaRPr lang="en-US" sz="950" dirty="0"/>
          </a:p>
        </p:txBody>
      </p:sp>
      <p:sp>
        <p:nvSpPr>
          <p:cNvPr id="23" name="Text 21"/>
          <p:cNvSpPr txBox="1"/>
          <p:nvPr/>
        </p:nvSpPr>
        <p:spPr>
          <a:xfrm>
            <a:off x="640080" y="3538728"/>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Location Verification</a:t>
            </a:r>
            <a:endParaRPr lang="en-US" sz="1150" dirty="0"/>
          </a:p>
        </p:txBody>
      </p:sp>
      <p:sp>
        <p:nvSpPr>
          <p:cNvPr id="24" name="Text 22"/>
          <p:cNvSpPr txBox="1"/>
          <p:nvPr/>
        </p:nvSpPr>
        <p:spPr>
          <a:xfrm>
            <a:off x="3474720" y="3538728"/>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Boolean against a claim. Never a coordinate.</a:t>
            </a:r>
            <a:endParaRPr lang="en-US" sz="1100" dirty="0"/>
          </a:p>
        </p:txBody>
      </p:sp>
      <p:sp>
        <p:nvSpPr>
          <p:cNvPr id="25" name="Text 23"/>
          <p:cNvSpPr txBox="1"/>
          <p:nvPr/>
        </p:nvSpPr>
        <p:spPr>
          <a:xfrm>
            <a:off x="8732520" y="3538728"/>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3</a:t>
            </a:r>
            <a:endParaRPr lang="en-US" sz="1100" dirty="0"/>
          </a:p>
        </p:txBody>
      </p:sp>
      <p:sp>
        <p:nvSpPr>
          <p:cNvPr id="26" name="Text 24"/>
          <p:cNvSpPr txBox="1"/>
          <p:nvPr/>
        </p:nvSpPr>
        <p:spPr>
          <a:xfrm>
            <a:off x="9509760" y="3538728"/>
            <a:ext cx="2194560" cy="310896"/>
          </a:xfrm>
          <a:prstGeom prst="rect">
            <a:avLst/>
          </a:prstGeom>
          <a:noFill/>
          <a:ln/>
        </p:spPr>
        <p:txBody>
          <a:bodyPr wrap="square" lIns="0" tIns="0" rIns="0" bIns="0" rtlCol="0" anchor="ctr"/>
          <a:lstStyle/>
          <a:p>
            <a:pPr indent="0" marL="0">
              <a:buNone/>
            </a:pPr>
            <a:r>
              <a:rPr lang="en-US" sz="950" dirty="0">
                <a:solidFill>
                  <a:srgbClr val="5A668F"/>
                </a:solidFill>
                <a:latin typeface="Courier New" pitchFamily="34" charset="0"/>
                <a:ea typeface="Courier New" pitchFamily="34" charset="-122"/>
                <a:cs typeface="Courier New" pitchFamily="34" charset="-120"/>
              </a:rPr>
              <a:t>Sandbox</a:t>
            </a:r>
            <a:endParaRPr lang="en-US" sz="950" dirty="0"/>
          </a:p>
        </p:txBody>
      </p:sp>
      <p:sp>
        <p:nvSpPr>
          <p:cNvPr id="27" name="Shape 25"/>
          <p:cNvSpPr/>
          <p:nvPr/>
        </p:nvSpPr>
        <p:spPr>
          <a:xfrm>
            <a:off x="530352" y="3904488"/>
            <a:ext cx="11100816" cy="402336"/>
          </a:xfrm>
          <a:prstGeom prst="rect">
            <a:avLst/>
          </a:prstGeom>
          <a:solidFill>
            <a:srgbClr val="F4F6FD"/>
          </a:solidFill>
          <a:ln w="12700">
            <a:solidFill>
              <a:srgbClr val="333333"/>
            </a:solidFill>
            <a:prstDash val="solid"/>
          </a:ln>
        </p:spPr>
      </p:sp>
      <p:sp>
        <p:nvSpPr>
          <p:cNvPr id="28" name="Text 26"/>
          <p:cNvSpPr txBox="1"/>
          <p:nvPr/>
        </p:nvSpPr>
        <p:spPr>
          <a:xfrm>
            <a:off x="640080" y="3941064"/>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Device Reachability</a:t>
            </a:r>
            <a:endParaRPr lang="en-US" sz="1150" dirty="0"/>
          </a:p>
        </p:txBody>
      </p:sp>
      <p:sp>
        <p:nvSpPr>
          <p:cNvPr id="29" name="Text 27"/>
          <p:cNvSpPr txBox="1"/>
          <p:nvPr/>
        </p:nvSpPr>
        <p:spPr>
          <a:xfrm>
            <a:off x="3474720" y="3941064"/>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Bot-farm and burner patterns.</a:t>
            </a:r>
            <a:endParaRPr lang="en-US" sz="1100" dirty="0"/>
          </a:p>
        </p:txBody>
      </p:sp>
      <p:sp>
        <p:nvSpPr>
          <p:cNvPr id="30" name="Text 28"/>
          <p:cNvSpPr txBox="1"/>
          <p:nvPr/>
        </p:nvSpPr>
        <p:spPr>
          <a:xfrm>
            <a:off x="8732520" y="3941064"/>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2</a:t>
            </a:r>
            <a:endParaRPr lang="en-US" sz="1100" dirty="0"/>
          </a:p>
        </p:txBody>
      </p:sp>
      <p:sp>
        <p:nvSpPr>
          <p:cNvPr id="31" name="Text 29"/>
          <p:cNvSpPr txBox="1"/>
          <p:nvPr/>
        </p:nvSpPr>
        <p:spPr>
          <a:xfrm>
            <a:off x="9509760" y="3941064"/>
            <a:ext cx="2194560" cy="310896"/>
          </a:xfrm>
          <a:prstGeom prst="rect">
            <a:avLst/>
          </a:prstGeom>
          <a:noFill/>
          <a:ln/>
        </p:spPr>
        <p:txBody>
          <a:bodyPr wrap="square" lIns="0" tIns="0" rIns="0" bIns="0" rtlCol="0" anchor="ctr"/>
          <a:lstStyle/>
          <a:p>
            <a:pPr indent="0" marL="0">
              <a:buNone/>
            </a:pPr>
            <a:r>
              <a:rPr lang="en-US" sz="950" dirty="0">
                <a:solidFill>
                  <a:srgbClr val="5A668F"/>
                </a:solidFill>
                <a:latin typeface="Courier New" pitchFamily="34" charset="0"/>
                <a:ea typeface="Courier New" pitchFamily="34" charset="-122"/>
                <a:cs typeface="Courier New" pitchFamily="34" charset="-120"/>
              </a:rPr>
              <a:t>Sandbox</a:t>
            </a:r>
            <a:endParaRPr lang="en-US" sz="950" dirty="0"/>
          </a:p>
        </p:txBody>
      </p:sp>
      <p:sp>
        <p:nvSpPr>
          <p:cNvPr id="32" name="Text 30"/>
          <p:cNvSpPr txBox="1"/>
          <p:nvPr/>
        </p:nvSpPr>
        <p:spPr>
          <a:xfrm>
            <a:off x="640080" y="4343400"/>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Device Roaming</a:t>
            </a:r>
            <a:endParaRPr lang="en-US" sz="1150" dirty="0"/>
          </a:p>
        </p:txBody>
      </p:sp>
      <p:sp>
        <p:nvSpPr>
          <p:cNvPr id="33" name="Text 31"/>
          <p:cNvSpPr txBox="1"/>
          <p:nvPr/>
        </p:nvSpPr>
        <p:spPr>
          <a:xfrm>
            <a:off x="3474720" y="4343400"/>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Impossible travel; stability proxy for thin-file customers.</a:t>
            </a:r>
            <a:endParaRPr lang="en-US" sz="1100" dirty="0"/>
          </a:p>
        </p:txBody>
      </p:sp>
      <p:sp>
        <p:nvSpPr>
          <p:cNvPr id="34" name="Text 32"/>
          <p:cNvSpPr txBox="1"/>
          <p:nvPr/>
        </p:nvSpPr>
        <p:spPr>
          <a:xfrm>
            <a:off x="8732520" y="4343400"/>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2</a:t>
            </a:r>
            <a:endParaRPr lang="en-US" sz="1100" dirty="0"/>
          </a:p>
        </p:txBody>
      </p:sp>
      <p:sp>
        <p:nvSpPr>
          <p:cNvPr id="35" name="Text 33"/>
          <p:cNvSpPr txBox="1"/>
          <p:nvPr/>
        </p:nvSpPr>
        <p:spPr>
          <a:xfrm>
            <a:off x="9509760" y="4343400"/>
            <a:ext cx="2194560" cy="310896"/>
          </a:xfrm>
          <a:prstGeom prst="rect">
            <a:avLst/>
          </a:prstGeom>
          <a:noFill/>
          <a:ln/>
        </p:spPr>
        <p:txBody>
          <a:bodyPr wrap="square" lIns="0" tIns="0" rIns="0" bIns="0" rtlCol="0" anchor="ctr"/>
          <a:lstStyle/>
          <a:p>
            <a:pPr indent="0" marL="0">
              <a:buNone/>
            </a:pPr>
            <a:r>
              <a:rPr lang="en-US" sz="950" dirty="0">
                <a:solidFill>
                  <a:srgbClr val="5A668F"/>
                </a:solidFill>
                <a:latin typeface="Courier New" pitchFamily="34" charset="0"/>
                <a:ea typeface="Courier New" pitchFamily="34" charset="-122"/>
                <a:cs typeface="Courier New" pitchFamily="34" charset="-120"/>
              </a:rPr>
              <a:t>Sandbox</a:t>
            </a:r>
            <a:endParaRPr lang="en-US" sz="950" dirty="0"/>
          </a:p>
        </p:txBody>
      </p:sp>
      <p:sp>
        <p:nvSpPr>
          <p:cNvPr id="36" name="Shape 34"/>
          <p:cNvSpPr/>
          <p:nvPr/>
        </p:nvSpPr>
        <p:spPr>
          <a:xfrm>
            <a:off x="530352" y="4709160"/>
            <a:ext cx="11100816" cy="402336"/>
          </a:xfrm>
          <a:prstGeom prst="rect">
            <a:avLst/>
          </a:prstGeom>
          <a:solidFill>
            <a:srgbClr val="F4F6FD"/>
          </a:solidFill>
          <a:ln w="12700">
            <a:solidFill>
              <a:srgbClr val="333333"/>
            </a:solidFill>
            <a:prstDash val="solid"/>
          </a:ln>
        </p:spPr>
      </p:sp>
      <p:sp>
        <p:nvSpPr>
          <p:cNvPr id="37" name="Text 35"/>
          <p:cNvSpPr txBox="1"/>
          <p:nvPr/>
        </p:nvSpPr>
        <p:spPr>
          <a:xfrm>
            <a:off x="640080" y="4745736"/>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Number Recycling</a:t>
            </a:r>
            <a:endParaRPr lang="en-US" sz="1150" dirty="0"/>
          </a:p>
        </p:txBody>
      </p:sp>
      <p:sp>
        <p:nvSpPr>
          <p:cNvPr id="38" name="Text 36"/>
          <p:cNvSpPr txBox="1"/>
          <p:nvPr/>
        </p:nvSpPr>
        <p:spPr>
          <a:xfrm>
            <a:off x="3474720" y="4745736"/>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Was this number reassigned to someone else?</a:t>
            </a:r>
            <a:endParaRPr lang="en-US" sz="1100" dirty="0"/>
          </a:p>
        </p:txBody>
      </p:sp>
      <p:sp>
        <p:nvSpPr>
          <p:cNvPr id="39" name="Text 37"/>
          <p:cNvSpPr txBox="1"/>
          <p:nvPr/>
        </p:nvSpPr>
        <p:spPr>
          <a:xfrm>
            <a:off x="8732520" y="4745736"/>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1</a:t>
            </a:r>
            <a:endParaRPr lang="en-US" sz="1100" dirty="0"/>
          </a:p>
        </p:txBody>
      </p:sp>
      <p:sp>
        <p:nvSpPr>
          <p:cNvPr id="40" name="Text 38"/>
          <p:cNvSpPr txBox="1"/>
          <p:nvPr/>
        </p:nvSpPr>
        <p:spPr>
          <a:xfrm>
            <a:off x="9509760" y="4745736"/>
            <a:ext cx="2194560" cy="310896"/>
          </a:xfrm>
          <a:prstGeom prst="rect">
            <a:avLst/>
          </a:prstGeom>
          <a:noFill/>
          <a:ln/>
        </p:spPr>
        <p:txBody>
          <a:bodyPr wrap="square" lIns="0" tIns="0" rIns="0" bIns="0" rtlCol="0" anchor="ctr"/>
          <a:lstStyle/>
          <a:p>
            <a:pPr indent="0" marL="0">
              <a:buNone/>
            </a:pPr>
            <a:r>
              <a:rPr lang="en-US" sz="950" b="1" dirty="0">
                <a:solidFill>
                  <a:srgbClr val="0E7A56"/>
                </a:solidFill>
                <a:latin typeface="Courier New" pitchFamily="34" charset="0"/>
                <a:ea typeface="Courier New" pitchFamily="34" charset="-122"/>
                <a:cs typeface="Courier New" pitchFamily="34" charset="-120"/>
              </a:rPr>
              <a:t>Hosted simulator</a:t>
            </a:r>
            <a:endParaRPr lang="en-US" sz="950" dirty="0"/>
          </a:p>
        </p:txBody>
      </p:sp>
      <p:sp>
        <p:nvSpPr>
          <p:cNvPr id="41" name="Text 39"/>
          <p:cNvSpPr txBox="1"/>
          <p:nvPr/>
        </p:nvSpPr>
        <p:spPr>
          <a:xfrm>
            <a:off x="640080" y="5148072"/>
            <a:ext cx="2743200" cy="310896"/>
          </a:xfrm>
          <a:prstGeom prst="rect">
            <a:avLst/>
          </a:prstGeom>
          <a:noFill/>
          <a:ln/>
        </p:spPr>
        <p:txBody>
          <a:bodyPr wrap="square" lIns="0" tIns="0" rIns="0" bIns="0" rtlCol="0" anchor="ctr"/>
          <a:lstStyle/>
          <a:p>
            <a:pPr indent="0" marL="0">
              <a:buNone/>
            </a:pPr>
            <a:r>
              <a:rPr lang="en-US" sz="1150" b="1" dirty="0">
                <a:solidFill>
                  <a:srgbClr val="16204A"/>
                </a:solidFill>
                <a:latin typeface="Calibri" pitchFamily="34" charset="0"/>
                <a:ea typeface="Calibri" pitchFamily="34" charset="-122"/>
                <a:cs typeface="Calibri" pitchFamily="34" charset="-120"/>
              </a:rPr>
              <a:t>Congestion Insights</a:t>
            </a:r>
            <a:endParaRPr lang="en-US" sz="1150" dirty="0"/>
          </a:p>
        </p:txBody>
      </p:sp>
      <p:sp>
        <p:nvSpPr>
          <p:cNvPr id="42" name="Text 40"/>
          <p:cNvSpPr txBox="1"/>
          <p:nvPr/>
        </p:nvSpPr>
        <p:spPr>
          <a:xfrm>
            <a:off x="3474720" y="5148072"/>
            <a:ext cx="5212080" cy="310896"/>
          </a:xfrm>
          <a:prstGeom prst="rect">
            <a:avLst/>
          </a:prstGeom>
          <a:noFill/>
          <a:ln/>
        </p:spPr>
        <p:txBody>
          <a:bodyPr wrap="square" lIns="0" tIns="0" rIns="0" bIns="0" rtlCol="0" anchor="ctr"/>
          <a:lstStyle/>
          <a:p>
            <a:pPr indent="0" marL="0">
              <a:buNone/>
            </a:pPr>
            <a:r>
              <a:rPr lang="en-US" sz="1100" dirty="0">
                <a:solidFill>
                  <a:srgbClr val="5A668F"/>
                </a:solidFill>
                <a:latin typeface="Calibri" pitchFamily="34" charset="0"/>
                <a:ea typeface="Calibri" pitchFamily="34" charset="-122"/>
                <a:cs typeface="Calibri" pitchFamily="34" charset="-120"/>
              </a:rPr>
              <a:t>Network information — quarantined from the verdict.</a:t>
            </a:r>
            <a:endParaRPr lang="en-US" sz="1100" dirty="0"/>
          </a:p>
        </p:txBody>
      </p:sp>
      <p:sp>
        <p:nvSpPr>
          <p:cNvPr id="43" name="Text 41"/>
          <p:cNvSpPr txBox="1"/>
          <p:nvPr/>
        </p:nvSpPr>
        <p:spPr>
          <a:xfrm>
            <a:off x="8732520" y="5148072"/>
            <a:ext cx="640080" cy="310896"/>
          </a:xfrm>
          <a:prstGeom prst="rect">
            <a:avLst/>
          </a:prstGeom>
          <a:noFill/>
          <a:ln/>
        </p:spPr>
        <p:txBody>
          <a:bodyPr wrap="square" lIns="0" tIns="0" rIns="0" bIns="0" rtlCol="0" anchor="ctr"/>
          <a:lstStyle/>
          <a:p>
            <a:pPr indent="0" marL="0">
              <a:buNone/>
            </a:pPr>
            <a:r>
              <a:rPr lang="en-US" sz="1100" dirty="0">
                <a:solidFill>
                  <a:srgbClr val="5A668F"/>
                </a:solidFill>
                <a:latin typeface="Courier New" pitchFamily="34" charset="0"/>
                <a:ea typeface="Courier New" pitchFamily="34" charset="-122"/>
                <a:cs typeface="Courier New" pitchFamily="34" charset="-120"/>
              </a:rPr>
              <a:t>—</a:t>
            </a:r>
            <a:endParaRPr lang="en-US" sz="1100" dirty="0"/>
          </a:p>
        </p:txBody>
      </p:sp>
      <p:sp>
        <p:nvSpPr>
          <p:cNvPr id="44" name="Text 42"/>
          <p:cNvSpPr txBox="1"/>
          <p:nvPr/>
        </p:nvSpPr>
        <p:spPr>
          <a:xfrm>
            <a:off x="9509760" y="5148072"/>
            <a:ext cx="2194560" cy="310896"/>
          </a:xfrm>
          <a:prstGeom prst="rect">
            <a:avLst/>
          </a:prstGeom>
          <a:noFill/>
          <a:ln/>
        </p:spPr>
        <p:txBody>
          <a:bodyPr wrap="square" lIns="0" tIns="0" rIns="0" bIns="0" rtlCol="0" anchor="ctr"/>
          <a:lstStyle/>
          <a:p>
            <a:pPr indent="0" marL="0">
              <a:buNone/>
            </a:pPr>
            <a:r>
              <a:rPr lang="en-US" sz="950" b="1" dirty="0">
                <a:solidFill>
                  <a:srgbClr val="0E7A56"/>
                </a:solidFill>
                <a:latin typeface="Courier New" pitchFamily="34" charset="0"/>
                <a:ea typeface="Courier New" pitchFamily="34" charset="-122"/>
                <a:cs typeface="Courier New" pitchFamily="34" charset="-120"/>
              </a:rPr>
              <a:t>Hosted simulator</a:t>
            </a:r>
            <a:endParaRPr lang="en-US" sz="950" dirty="0"/>
          </a:p>
        </p:txBody>
      </p:sp>
      <p:sp>
        <p:nvSpPr>
          <p:cNvPr id="45" name="Text 43"/>
          <p:cNvSpPr txBox="1"/>
          <p:nvPr/>
        </p:nvSpPr>
        <p:spPr>
          <a:xfrm>
            <a:off x="640080" y="5440680"/>
            <a:ext cx="10881360" cy="502920"/>
          </a:xfrm>
          <a:prstGeom prst="rect">
            <a:avLst/>
          </a:prstGeom>
          <a:noFill/>
          <a:ln/>
        </p:spPr>
        <p:txBody>
          <a:bodyPr wrap="square" lIns="0" tIns="0" rIns="0" bIns="0" rtlCol="0" anchor="ctr"/>
          <a:lstStyle/>
          <a:p>
            <a:pPr indent="0" marL="0">
              <a:lnSpc>
                <a:spcPts val="1700"/>
              </a:lnSpc>
              <a:buNone/>
            </a:pPr>
            <a:r>
              <a:rPr lang="en-US" sz="1150" i="1" dirty="0">
                <a:solidFill>
                  <a:srgbClr val="5A668F"/>
                </a:solidFill>
                <a:latin typeface="Calibri" pitchFamily="34" charset="0"/>
                <a:ea typeface="Calibri" pitchFamily="34" charset="-122"/>
                <a:cs typeface="Calibri" pitchFamily="34" charset="-120"/>
              </a:rPr>
              <a:t>A ninth, Device Intelligence, has no Nokia adapter: the sandbox capture returned EVIDENCE_UNAVAILABLE, so the engine returns unavailable rather than inventing a reputation verdict.</a:t>
            </a:r>
            <a:endParaRPr lang="en-US" sz="1150" dirty="0"/>
          </a:p>
        </p:txBody>
      </p:sp>
      <p:sp>
        <p:nvSpPr>
          <p:cNvPr id="46" name="Text 44"/>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5A668F"/>
                </a:solidFill>
                <a:latin typeface="Courier New" pitchFamily="34" charset="0"/>
                <a:ea typeface="Courier New" pitchFamily="34" charset="-122"/>
                <a:cs typeface="Courier New" pitchFamily="34" charset="-120"/>
              </a:rPr>
              <a:t>ISNAD  ·  THEME 4  ·  CAMARA COVERAGE</a:t>
            </a:r>
            <a:endParaRPr lang="en-US" sz="9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274320"/>
          </a:xfrm>
          <a:prstGeom prst="rect">
            <a:avLst/>
          </a:prstGeom>
          <a:noFill/>
        </p:spPr>
        <p:txBody>
          <a:bodyPr wrap="square" lIns="0" rIns="0" tIns="0" bIns="0">
            <a:spAutoFit/>
          </a:bodyPr>
          <a:lstStyle/>
          <a:p>
            <a:r>
              <a:rPr sz="1100" b="1">
                <a:solidFill>
                  <a:srgbClr val="B8860B"/>
                </a:solidFill>
                <a:latin typeface="Courier New"/>
              </a:rPr>
              <a:t>TECHNICAL ARCHITECTURE</a:t>
            </a:r>
          </a:p>
        </p:txBody>
      </p:sp>
      <p:sp>
        <p:nvSpPr>
          <p:cNvPr id="3" name="TextBox 2"/>
          <p:cNvSpPr txBox="1"/>
          <p:nvPr/>
        </p:nvSpPr>
        <p:spPr>
          <a:xfrm>
            <a:off x="640080" y="868680"/>
            <a:ext cx="10881360" cy="566928"/>
          </a:xfrm>
          <a:prstGeom prst="rect">
            <a:avLst/>
          </a:prstGeom>
          <a:noFill/>
        </p:spPr>
        <p:txBody>
          <a:bodyPr wrap="square" lIns="0" rIns="0" tIns="0" bIns="0">
            <a:spAutoFit/>
          </a:bodyPr>
          <a:lstStyle/>
          <a:p>
            <a:pPr>
              <a:lnSpc>
                <a:spcPts val="3808"/>
              </a:lnSpc>
            </a:pPr>
            <a:r>
              <a:rPr sz="3400" b="1">
                <a:solidFill>
                  <a:srgbClr val="16204A"/>
                </a:solidFill>
                <a:latin typeface="Cambria"/>
              </a:rPr>
              <a:t>One request in. A signed evidence chain out.</a:t>
            </a:r>
          </a:p>
        </p:txBody>
      </p:sp>
      <p:sp>
        <p:nvSpPr>
          <p:cNvPr id="4" name="TextBox 3"/>
          <p:cNvSpPr txBox="1"/>
          <p:nvPr/>
        </p:nvSpPr>
        <p:spPr>
          <a:xfrm>
            <a:off x="640080" y="6199632"/>
            <a:ext cx="10881360" cy="274320"/>
          </a:xfrm>
          <a:prstGeom prst="rect">
            <a:avLst/>
          </a:prstGeom>
          <a:noFill/>
        </p:spPr>
        <p:txBody>
          <a:bodyPr wrap="square" lIns="0" rIns="0" tIns="0" bIns="0">
            <a:spAutoFit/>
          </a:bodyPr>
          <a:lstStyle/>
          <a:p>
            <a:r>
              <a:rPr sz="950" b="0">
                <a:solidFill>
                  <a:srgbClr val="5A668F"/>
                </a:solidFill>
                <a:latin typeface="Courier New"/>
              </a:rPr>
              <a:t>PYTHON 3.11  ·  FASTAPI  ·  SQLALCHEMY + ALEMBIC  ·  ED25519  ·  NOKIA NETWORK-AS-CODE SDK  ·  GEMINI OVER HTTPX  ·  PLAYWRIGHT</a:t>
            </a:r>
          </a:p>
        </p:txBody>
      </p:sp>
      <p:sp>
        <p:nvSpPr>
          <p:cNvPr id="5" name="TextBox 4"/>
          <p:cNvSpPr txBox="1"/>
          <p:nvPr/>
        </p:nvSpPr>
        <p:spPr>
          <a:xfrm>
            <a:off x="640080" y="1463040"/>
            <a:ext cx="10881360" cy="320040"/>
          </a:xfrm>
          <a:prstGeom prst="rect">
            <a:avLst/>
          </a:prstGeom>
          <a:noFill/>
        </p:spPr>
        <p:txBody>
          <a:bodyPr wrap="square" lIns="0" rIns="0" tIns="0" bIns="0">
            <a:spAutoFit/>
          </a:bodyPr>
          <a:lstStyle/>
          <a:p>
            <a:r>
              <a:rPr sz="1300" b="0">
                <a:solidFill>
                  <a:srgbClr val="5A668F"/>
                </a:solidFill>
                <a:latin typeface="Calibri"/>
              </a:rPr>
              <a:t>The investigator forms a hypothesis, then spends its budget only on the checks that hypothesis makes relevant — stopping as soon as policy is satisfied.</a:t>
            </a:r>
          </a:p>
        </p:txBody>
      </p:sp>
      <p:sp>
        <p:nvSpPr>
          <p:cNvPr id="6" name="Rounded Rectangle 5"/>
          <p:cNvSpPr/>
          <p:nvPr/>
        </p:nvSpPr>
        <p:spPr>
          <a:xfrm>
            <a:off x="640080" y="1847088"/>
            <a:ext cx="1965960" cy="1133856"/>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59" y="2011680"/>
            <a:ext cx="1645920" cy="320040"/>
          </a:xfrm>
          <a:prstGeom prst="rect">
            <a:avLst/>
          </a:prstGeom>
          <a:noFill/>
        </p:spPr>
        <p:txBody>
          <a:bodyPr wrap="square" lIns="0" rIns="0" tIns="0" bIns="0">
            <a:spAutoFit/>
          </a:bodyPr>
          <a:lstStyle/>
          <a:p>
            <a:r>
              <a:rPr sz="1350" b="1">
                <a:solidFill>
                  <a:srgbClr val="16204A"/>
                </a:solidFill>
                <a:latin typeface="Cambria"/>
              </a:rPr>
              <a:t>Merchant context</a:t>
            </a:r>
          </a:p>
        </p:txBody>
      </p:sp>
      <p:sp>
        <p:nvSpPr>
          <p:cNvPr id="8" name="TextBox 7"/>
          <p:cNvSpPr txBox="1"/>
          <p:nvPr/>
        </p:nvSpPr>
        <p:spPr>
          <a:xfrm>
            <a:off x="822959" y="2359152"/>
            <a:ext cx="1645920" cy="548640"/>
          </a:xfrm>
          <a:prstGeom prst="rect">
            <a:avLst/>
          </a:prstGeom>
          <a:noFill/>
        </p:spPr>
        <p:txBody>
          <a:bodyPr wrap="square" lIns="0" rIns="0" tIns="0" bIns="0">
            <a:spAutoFit/>
          </a:bodyPr>
          <a:lstStyle/>
          <a:p>
            <a:pPr>
              <a:lnSpc>
                <a:spcPts val="1100"/>
              </a:lnSpc>
            </a:pPr>
            <a:r>
              <a:rPr sz="850" b="0">
                <a:solidFill>
                  <a:srgbClr val="5A668F"/>
                </a:solidFill>
                <a:latin typeface="Courier New"/>
              </a:rPr>
              <a:t>signup · checkout</a:t>
            </a:r>
          </a:p>
          <a:p>
            <a:pPr>
              <a:lnSpc>
                <a:spcPts val="1100"/>
              </a:lnSpc>
            </a:pPr>
            <a:r>
              <a:rPr sz="850" b="0">
                <a:solidFill>
                  <a:srgbClr val="5A668F"/>
                </a:solidFill>
                <a:latin typeface="Courier New"/>
              </a:rPr>
              <a:t>payout · reset</a:t>
            </a:r>
          </a:p>
        </p:txBody>
      </p:sp>
      <p:sp>
        <p:nvSpPr>
          <p:cNvPr id="9" name="Rounded Rectangle 8"/>
          <p:cNvSpPr/>
          <p:nvPr/>
        </p:nvSpPr>
        <p:spPr>
          <a:xfrm>
            <a:off x="2889504" y="1847088"/>
            <a:ext cx="1965960" cy="1133856"/>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072384" y="2011680"/>
            <a:ext cx="1645920" cy="320040"/>
          </a:xfrm>
          <a:prstGeom prst="rect">
            <a:avLst/>
          </a:prstGeom>
          <a:noFill/>
        </p:spPr>
        <p:txBody>
          <a:bodyPr wrap="square" lIns="0" rIns="0" tIns="0" bIns="0">
            <a:spAutoFit/>
          </a:bodyPr>
          <a:lstStyle/>
          <a:p>
            <a:r>
              <a:rPr sz="1350" b="1">
                <a:solidFill>
                  <a:srgbClr val="16204A"/>
                </a:solidFill>
                <a:latin typeface="Cambria"/>
              </a:rPr>
              <a:t>Investigator</a:t>
            </a:r>
          </a:p>
        </p:txBody>
      </p:sp>
      <p:sp>
        <p:nvSpPr>
          <p:cNvPr id="11" name="TextBox 10"/>
          <p:cNvSpPr txBox="1"/>
          <p:nvPr/>
        </p:nvSpPr>
        <p:spPr>
          <a:xfrm>
            <a:off x="3072384" y="2359152"/>
            <a:ext cx="1645920" cy="548640"/>
          </a:xfrm>
          <a:prstGeom prst="rect">
            <a:avLst/>
          </a:prstGeom>
          <a:noFill/>
        </p:spPr>
        <p:txBody>
          <a:bodyPr wrap="square" lIns="0" rIns="0" tIns="0" bIns="0">
            <a:spAutoFit/>
          </a:bodyPr>
          <a:lstStyle/>
          <a:p>
            <a:pPr>
              <a:lnSpc>
                <a:spcPts val="1100"/>
              </a:lnSpc>
            </a:pPr>
            <a:r>
              <a:rPr sz="850" b="0">
                <a:solidFill>
                  <a:srgbClr val="5A668F"/>
                </a:solidFill>
                <a:latin typeface="Courier New"/>
              </a:rPr>
              <a:t>hypothesis, belief</a:t>
            </a:r>
          </a:p>
          <a:p>
            <a:pPr>
              <a:lnSpc>
                <a:spcPts val="1100"/>
              </a:lnSpc>
            </a:pPr>
            <a:r>
              <a:rPr sz="850" b="0">
                <a:solidFill>
                  <a:srgbClr val="5A668F"/>
                </a:solidFill>
                <a:latin typeface="Courier New"/>
              </a:rPr>
              <a:t>in log-odds</a:t>
            </a:r>
          </a:p>
        </p:txBody>
      </p:sp>
      <p:sp>
        <p:nvSpPr>
          <p:cNvPr id="12" name="Rounded Rectangle 11"/>
          <p:cNvSpPr/>
          <p:nvPr/>
        </p:nvSpPr>
        <p:spPr>
          <a:xfrm>
            <a:off x="5138928" y="1847088"/>
            <a:ext cx="1965960" cy="1133856"/>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21808" y="2011680"/>
            <a:ext cx="1645920" cy="320040"/>
          </a:xfrm>
          <a:prstGeom prst="rect">
            <a:avLst/>
          </a:prstGeom>
          <a:noFill/>
        </p:spPr>
        <p:txBody>
          <a:bodyPr wrap="square" lIns="0" rIns="0" tIns="0" bIns="0">
            <a:spAutoFit/>
          </a:bodyPr>
          <a:lstStyle/>
          <a:p>
            <a:r>
              <a:rPr sz="1350" b="1">
                <a:solidFill>
                  <a:srgbClr val="16204A"/>
                </a:solidFill>
                <a:latin typeface="Cambria"/>
              </a:rPr>
              <a:t>Planner</a:t>
            </a:r>
          </a:p>
        </p:txBody>
      </p:sp>
      <p:sp>
        <p:nvSpPr>
          <p:cNvPr id="14" name="TextBox 13"/>
          <p:cNvSpPr txBox="1"/>
          <p:nvPr/>
        </p:nvSpPr>
        <p:spPr>
          <a:xfrm>
            <a:off x="5321808" y="2359152"/>
            <a:ext cx="1645920" cy="548640"/>
          </a:xfrm>
          <a:prstGeom prst="rect">
            <a:avLst/>
          </a:prstGeom>
          <a:noFill/>
        </p:spPr>
        <p:txBody>
          <a:bodyPr wrap="square" lIns="0" rIns="0" tIns="0" bIns="0">
            <a:spAutoFit/>
          </a:bodyPr>
          <a:lstStyle/>
          <a:p>
            <a:pPr>
              <a:lnSpc>
                <a:spcPts val="1100"/>
              </a:lnSpc>
            </a:pPr>
            <a:r>
              <a:rPr sz="850" b="0">
                <a:solidFill>
                  <a:srgbClr val="5A668F"/>
                </a:solidFill>
                <a:latin typeface="Courier New"/>
              </a:rPr>
              <a:t>Gemini or greedy</a:t>
            </a:r>
          </a:p>
          <a:p>
            <a:pPr>
              <a:lnSpc>
                <a:spcPts val="1100"/>
              </a:lnSpc>
            </a:pPr>
            <a:r>
              <a:rPr sz="850" b="0">
                <a:solidFill>
                  <a:srgbClr val="5A668F"/>
                </a:solidFill>
                <a:latin typeface="Courier New"/>
              </a:rPr>
              <a:t>selects the check</a:t>
            </a:r>
          </a:p>
        </p:txBody>
      </p:sp>
      <p:sp>
        <p:nvSpPr>
          <p:cNvPr id="15" name="Rounded Rectangle 14"/>
          <p:cNvSpPr/>
          <p:nvPr/>
        </p:nvSpPr>
        <p:spPr>
          <a:xfrm>
            <a:off x="7388352" y="1847088"/>
            <a:ext cx="1965960" cy="1133856"/>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571231" y="2011680"/>
            <a:ext cx="1645920" cy="320040"/>
          </a:xfrm>
          <a:prstGeom prst="rect">
            <a:avLst/>
          </a:prstGeom>
          <a:noFill/>
        </p:spPr>
        <p:txBody>
          <a:bodyPr wrap="square" lIns="0" rIns="0" tIns="0" bIns="0">
            <a:spAutoFit/>
          </a:bodyPr>
          <a:lstStyle/>
          <a:p>
            <a:r>
              <a:rPr sz="1350" b="1">
                <a:solidFill>
                  <a:srgbClr val="16204A"/>
                </a:solidFill>
                <a:latin typeface="Cambria"/>
              </a:rPr>
              <a:t>Provider adapter</a:t>
            </a:r>
          </a:p>
        </p:txBody>
      </p:sp>
      <p:sp>
        <p:nvSpPr>
          <p:cNvPr id="17" name="TextBox 16"/>
          <p:cNvSpPr txBox="1"/>
          <p:nvPr/>
        </p:nvSpPr>
        <p:spPr>
          <a:xfrm>
            <a:off x="7571231" y="2359152"/>
            <a:ext cx="1645920" cy="548640"/>
          </a:xfrm>
          <a:prstGeom prst="rect">
            <a:avLst/>
          </a:prstGeom>
          <a:noFill/>
        </p:spPr>
        <p:txBody>
          <a:bodyPr wrap="square" lIns="0" rIns="0" tIns="0" bIns="0">
            <a:spAutoFit/>
          </a:bodyPr>
          <a:lstStyle/>
          <a:p>
            <a:pPr>
              <a:lnSpc>
                <a:spcPts val="1100"/>
              </a:lnSpc>
            </a:pPr>
            <a:r>
              <a:rPr sz="850" b="0">
                <a:solidFill>
                  <a:srgbClr val="5A668F"/>
                </a:solidFill>
                <a:latin typeface="Courier New"/>
              </a:rPr>
              <a:t>NaC · simulator</a:t>
            </a:r>
          </a:p>
          <a:p>
            <a:pPr>
              <a:lnSpc>
                <a:spcPts val="1100"/>
              </a:lnSpc>
            </a:pPr>
            <a:r>
              <a:rPr sz="850" b="0">
                <a:solidFill>
                  <a:srgbClr val="5A668F"/>
                </a:solidFill>
                <a:latin typeface="Courier New"/>
              </a:rPr>
              <a:t>mock · fake operator</a:t>
            </a:r>
          </a:p>
        </p:txBody>
      </p:sp>
      <p:sp>
        <p:nvSpPr>
          <p:cNvPr id="18" name="Rounded Rectangle 17"/>
          <p:cNvSpPr/>
          <p:nvPr/>
        </p:nvSpPr>
        <p:spPr>
          <a:xfrm>
            <a:off x="9637776" y="1847088"/>
            <a:ext cx="1965960" cy="1133856"/>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820655" y="2011680"/>
            <a:ext cx="1645920" cy="320040"/>
          </a:xfrm>
          <a:prstGeom prst="rect">
            <a:avLst/>
          </a:prstGeom>
          <a:noFill/>
        </p:spPr>
        <p:txBody>
          <a:bodyPr wrap="square" lIns="0" rIns="0" tIns="0" bIns="0">
            <a:spAutoFit/>
          </a:bodyPr>
          <a:lstStyle/>
          <a:p>
            <a:r>
              <a:rPr sz="1350" b="1">
                <a:solidFill>
                  <a:srgbClr val="16204A"/>
                </a:solidFill>
                <a:latin typeface="Cambria"/>
              </a:rPr>
              <a:t>Evidence link</a:t>
            </a:r>
          </a:p>
        </p:txBody>
      </p:sp>
      <p:sp>
        <p:nvSpPr>
          <p:cNvPr id="20" name="TextBox 19"/>
          <p:cNvSpPr txBox="1"/>
          <p:nvPr/>
        </p:nvSpPr>
        <p:spPr>
          <a:xfrm>
            <a:off x="9820655" y="2359152"/>
            <a:ext cx="1645920" cy="548640"/>
          </a:xfrm>
          <a:prstGeom prst="rect">
            <a:avLst/>
          </a:prstGeom>
          <a:noFill/>
        </p:spPr>
        <p:txBody>
          <a:bodyPr wrap="square" lIns="0" rIns="0" tIns="0" bIns="0">
            <a:spAutoFit/>
          </a:bodyPr>
          <a:lstStyle/>
          <a:p>
            <a:pPr>
              <a:lnSpc>
                <a:spcPts val="1100"/>
              </a:lnSpc>
            </a:pPr>
            <a:r>
              <a:rPr sz="850" b="0">
                <a:solidFill>
                  <a:srgbClr val="5A668F"/>
                </a:solidFill>
                <a:latin typeface="Courier New"/>
              </a:rPr>
              <a:t>normalized, with</a:t>
            </a:r>
          </a:p>
          <a:p>
            <a:pPr>
              <a:lnSpc>
                <a:spcPts val="1100"/>
              </a:lnSpc>
            </a:pPr>
            <a:r>
              <a:rPr sz="850" b="0">
                <a:solidFill>
                  <a:srgbClr val="5A668F"/>
                </a:solidFill>
                <a:latin typeface="Courier New"/>
              </a:rPr>
              <a:t>its own provenance</a:t>
            </a:r>
          </a:p>
        </p:txBody>
      </p:sp>
      <p:sp>
        <p:nvSpPr>
          <p:cNvPr id="21" name="TextBox 20"/>
          <p:cNvSpPr txBox="1"/>
          <p:nvPr/>
        </p:nvSpPr>
        <p:spPr>
          <a:xfrm>
            <a:off x="2587752" y="2249424"/>
            <a:ext cx="310896" cy="365760"/>
          </a:xfrm>
          <a:prstGeom prst="rect">
            <a:avLst/>
          </a:prstGeom>
          <a:noFill/>
        </p:spPr>
        <p:txBody>
          <a:bodyPr wrap="square" lIns="0" rIns="0" tIns="0" bIns="0">
            <a:spAutoFit/>
          </a:bodyPr>
          <a:lstStyle/>
          <a:p>
            <a:r>
              <a:rPr sz="1600" b="0">
                <a:solidFill>
                  <a:srgbClr val="B8860B"/>
                </a:solidFill>
                <a:latin typeface="Calibri"/>
              </a:rPr>
              <a:t>→</a:t>
            </a:r>
          </a:p>
        </p:txBody>
      </p:sp>
      <p:sp>
        <p:nvSpPr>
          <p:cNvPr id="22" name="TextBox 21"/>
          <p:cNvSpPr txBox="1"/>
          <p:nvPr/>
        </p:nvSpPr>
        <p:spPr>
          <a:xfrm>
            <a:off x="4837176" y="2249424"/>
            <a:ext cx="310896" cy="365760"/>
          </a:xfrm>
          <a:prstGeom prst="rect">
            <a:avLst/>
          </a:prstGeom>
          <a:noFill/>
        </p:spPr>
        <p:txBody>
          <a:bodyPr wrap="square" lIns="0" rIns="0" tIns="0" bIns="0">
            <a:spAutoFit/>
          </a:bodyPr>
          <a:lstStyle/>
          <a:p>
            <a:r>
              <a:rPr sz="1600" b="0">
                <a:solidFill>
                  <a:srgbClr val="B8860B"/>
                </a:solidFill>
                <a:latin typeface="Calibri"/>
              </a:rPr>
              <a:t>→</a:t>
            </a:r>
          </a:p>
        </p:txBody>
      </p:sp>
      <p:sp>
        <p:nvSpPr>
          <p:cNvPr id="23" name="TextBox 22"/>
          <p:cNvSpPr txBox="1"/>
          <p:nvPr/>
        </p:nvSpPr>
        <p:spPr>
          <a:xfrm>
            <a:off x="7086600" y="2249424"/>
            <a:ext cx="310896" cy="365760"/>
          </a:xfrm>
          <a:prstGeom prst="rect">
            <a:avLst/>
          </a:prstGeom>
          <a:noFill/>
        </p:spPr>
        <p:txBody>
          <a:bodyPr wrap="square" lIns="0" rIns="0" tIns="0" bIns="0">
            <a:spAutoFit/>
          </a:bodyPr>
          <a:lstStyle/>
          <a:p>
            <a:r>
              <a:rPr sz="1600" b="0">
                <a:solidFill>
                  <a:srgbClr val="B8860B"/>
                </a:solidFill>
                <a:latin typeface="Calibri"/>
              </a:rPr>
              <a:t>→</a:t>
            </a:r>
          </a:p>
        </p:txBody>
      </p:sp>
      <p:sp>
        <p:nvSpPr>
          <p:cNvPr id="24" name="TextBox 23"/>
          <p:cNvSpPr txBox="1"/>
          <p:nvPr/>
        </p:nvSpPr>
        <p:spPr>
          <a:xfrm>
            <a:off x="9336024" y="2249424"/>
            <a:ext cx="310896" cy="365760"/>
          </a:xfrm>
          <a:prstGeom prst="rect">
            <a:avLst/>
          </a:prstGeom>
          <a:noFill/>
        </p:spPr>
        <p:txBody>
          <a:bodyPr wrap="square" lIns="0" rIns="0" tIns="0" bIns="0">
            <a:spAutoFit/>
          </a:bodyPr>
          <a:lstStyle/>
          <a:p>
            <a:r>
              <a:rPr sz="1600" b="0">
                <a:solidFill>
                  <a:srgbClr val="B8860B"/>
                </a:solidFill>
                <a:latin typeface="Calibri"/>
              </a:rPr>
              <a:t>→</a:t>
            </a:r>
          </a:p>
        </p:txBody>
      </p:sp>
      <p:sp>
        <p:nvSpPr>
          <p:cNvPr id="25" name="Rounded Rectangle 24"/>
          <p:cNvSpPr/>
          <p:nvPr/>
        </p:nvSpPr>
        <p:spPr>
          <a:xfrm>
            <a:off x="640080" y="3127248"/>
            <a:ext cx="10881360" cy="658368"/>
          </a:xfrm>
          <a:prstGeom prst="roundRect">
            <a:avLst>
              <a:gd name="adj" fmla="val 4000"/>
            </a:avLst>
          </a:prstGeom>
          <a:solidFill>
            <a:srgbClr val="FBF6E9"/>
          </a:solidFill>
          <a:ln w="12700">
            <a:solidFill>
              <a:srgbClr val="EBDC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0120" y="3282696"/>
            <a:ext cx="10241280" cy="384048"/>
          </a:xfrm>
          <a:prstGeom prst="rect">
            <a:avLst/>
          </a:prstGeom>
          <a:noFill/>
        </p:spPr>
        <p:txBody>
          <a:bodyPr wrap="square" lIns="0" rIns="0" tIns="0" bIns="0">
            <a:spAutoFit/>
          </a:bodyPr>
          <a:lstStyle/>
          <a:p>
            <a:pPr>
              <a:lnSpc>
                <a:spcPts val="1500"/>
              </a:lnSpc>
            </a:pPr>
            <a:r>
              <a:rPr sz="1150" b="0">
                <a:solidFill>
                  <a:srgbClr val="5A668F"/>
                </a:solidFill>
                <a:latin typeface="Calibri"/>
              </a:rPr>
              <a:t>The link returns to the investigator and the loop repeats until policy is satisfied or the budget is spent. Then policy alone maps the belief to </a:t>
            </a:r>
            <a:r>
              <a:rPr sz="1150" b="1">
                <a:solidFill>
                  <a:srgbClr val="16204A"/>
                </a:solidFill>
                <a:latin typeface="Calibri"/>
              </a:rPr>
              <a:t>ALLOW / CHALLENGE / DECLINE</a:t>
            </a:r>
            <a:r>
              <a:rPr sz="1150" b="0">
                <a:solidFill>
                  <a:srgbClr val="5A668F"/>
                </a:solidFill>
                <a:latin typeface="Calibri"/>
              </a:rPr>
              <a:t>, and the vault signs the exact stored receipt bytes. The model chooses what to buy; policy decides what the answer means, and can require a check the model skipped.</a:t>
            </a:r>
          </a:p>
        </p:txBody>
      </p:sp>
      <p:sp>
        <p:nvSpPr>
          <p:cNvPr id="27" name="TextBox 26"/>
          <p:cNvSpPr txBox="1"/>
          <p:nvPr/>
        </p:nvSpPr>
        <p:spPr>
          <a:xfrm>
            <a:off x="640080" y="3931920"/>
            <a:ext cx="2743200" cy="256032"/>
          </a:xfrm>
          <a:prstGeom prst="rect">
            <a:avLst/>
          </a:prstGeom>
          <a:noFill/>
        </p:spPr>
        <p:txBody>
          <a:bodyPr wrap="square" lIns="0" rIns="0" tIns="0" bIns="0">
            <a:spAutoFit/>
          </a:bodyPr>
          <a:lstStyle/>
          <a:p>
            <a:r>
              <a:rPr sz="900" b="1">
                <a:solidFill>
                  <a:srgbClr val="5A668F"/>
                </a:solidFill>
                <a:latin typeface="Courier New"/>
              </a:rPr>
              <a:t>MODULE</a:t>
            </a:r>
          </a:p>
        </p:txBody>
      </p:sp>
      <p:sp>
        <p:nvSpPr>
          <p:cNvPr id="28" name="TextBox 27"/>
          <p:cNvSpPr txBox="1"/>
          <p:nvPr/>
        </p:nvSpPr>
        <p:spPr>
          <a:xfrm>
            <a:off x="3657600" y="3931920"/>
            <a:ext cx="7863840" cy="256032"/>
          </a:xfrm>
          <a:prstGeom prst="rect">
            <a:avLst/>
          </a:prstGeom>
          <a:noFill/>
        </p:spPr>
        <p:txBody>
          <a:bodyPr wrap="square" lIns="0" rIns="0" tIns="0" bIns="0">
            <a:spAutoFit/>
          </a:bodyPr>
          <a:lstStyle/>
          <a:p>
            <a:r>
              <a:rPr sz="900" b="1">
                <a:solidFill>
                  <a:srgbClr val="5A668F"/>
                </a:solidFill>
                <a:latin typeface="Courier New"/>
              </a:rPr>
              <a:t>RESPONSIBILITY</a:t>
            </a:r>
          </a:p>
        </p:txBody>
      </p:sp>
      <p:sp>
        <p:nvSpPr>
          <p:cNvPr id="29" name="Rounded Rectangle 28"/>
          <p:cNvSpPr/>
          <p:nvPr/>
        </p:nvSpPr>
        <p:spPr>
          <a:xfrm>
            <a:off x="530352" y="4160520"/>
            <a:ext cx="11100816" cy="320040"/>
          </a:xfrm>
          <a:prstGeom prst="roundRect">
            <a:avLst>
              <a:gd name="adj" fmla="val 4000"/>
            </a:avLst>
          </a:prstGeom>
          <a:solidFill>
            <a:srgbClr val="F4F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4206240"/>
            <a:ext cx="2834640" cy="274320"/>
          </a:xfrm>
          <a:prstGeom prst="rect">
            <a:avLst/>
          </a:prstGeom>
          <a:noFill/>
        </p:spPr>
        <p:txBody>
          <a:bodyPr wrap="square" lIns="0" rIns="0" tIns="0" bIns="0">
            <a:spAutoFit/>
          </a:bodyPr>
          <a:lstStyle/>
          <a:p>
            <a:r>
              <a:rPr sz="950" b="1">
                <a:solidFill>
                  <a:srgbClr val="16204A"/>
                </a:solidFill>
                <a:latin typeface="Courier New"/>
              </a:rPr>
              <a:t>app/agent/</a:t>
            </a:r>
          </a:p>
        </p:txBody>
      </p:sp>
      <p:sp>
        <p:nvSpPr>
          <p:cNvPr id="31" name="TextBox 30"/>
          <p:cNvSpPr txBox="1"/>
          <p:nvPr/>
        </p:nvSpPr>
        <p:spPr>
          <a:xfrm>
            <a:off x="3657600" y="4206240"/>
            <a:ext cx="7863840" cy="274320"/>
          </a:xfrm>
          <a:prstGeom prst="rect">
            <a:avLst/>
          </a:prstGeom>
          <a:noFill/>
        </p:spPr>
        <p:txBody>
          <a:bodyPr wrap="square" lIns="0" rIns="0" tIns="0" bIns="0">
            <a:spAutoFit/>
          </a:bodyPr>
          <a:lstStyle/>
          <a:p>
            <a:r>
              <a:rPr sz="1050" b="0">
                <a:solidFill>
                  <a:srgbClr val="5A668F"/>
                </a:solidFill>
                <a:latin typeface="Calibri"/>
              </a:rPr>
              <a:t>Investigator, Gemini and greedy planners, hypothesis and belief model, explanations</a:t>
            </a:r>
          </a:p>
        </p:txBody>
      </p:sp>
      <p:sp>
        <p:nvSpPr>
          <p:cNvPr id="32" name="TextBox 31"/>
          <p:cNvSpPr txBox="1"/>
          <p:nvPr/>
        </p:nvSpPr>
        <p:spPr>
          <a:xfrm>
            <a:off x="640080" y="4526279"/>
            <a:ext cx="2834640" cy="274320"/>
          </a:xfrm>
          <a:prstGeom prst="rect">
            <a:avLst/>
          </a:prstGeom>
          <a:noFill/>
        </p:spPr>
        <p:txBody>
          <a:bodyPr wrap="square" lIns="0" rIns="0" tIns="0" bIns="0">
            <a:spAutoFit/>
          </a:bodyPr>
          <a:lstStyle/>
          <a:p>
            <a:r>
              <a:rPr sz="950" b="1">
                <a:solidFill>
                  <a:srgbClr val="16204A"/>
                </a:solidFill>
                <a:latin typeface="Courier New"/>
              </a:rPr>
              <a:t>app/policy/</a:t>
            </a:r>
          </a:p>
        </p:txBody>
      </p:sp>
      <p:sp>
        <p:nvSpPr>
          <p:cNvPr id="33" name="TextBox 32"/>
          <p:cNvSpPr txBox="1"/>
          <p:nvPr/>
        </p:nvSpPr>
        <p:spPr>
          <a:xfrm>
            <a:off x="3657600" y="4526279"/>
            <a:ext cx="7863840" cy="274320"/>
          </a:xfrm>
          <a:prstGeom prst="rect">
            <a:avLst/>
          </a:prstGeom>
          <a:noFill/>
        </p:spPr>
        <p:txBody>
          <a:bodyPr wrap="square" lIns="0" rIns="0" tIns="0" bIns="0">
            <a:spAutoFit/>
          </a:bodyPr>
          <a:lstStyle/>
          <a:p>
            <a:r>
              <a:rPr sz="1050" b="0">
                <a:solidFill>
                  <a:srgbClr val="5A668F"/>
                </a:solidFill>
                <a:latin typeface="Calibri"/>
              </a:rPr>
              <a:t>Evidence weights, thresholds, relevance, budget — policy.yaml is the tunable surface</a:t>
            </a:r>
          </a:p>
        </p:txBody>
      </p:sp>
      <p:sp>
        <p:nvSpPr>
          <p:cNvPr id="34" name="Rounded Rectangle 33"/>
          <p:cNvSpPr/>
          <p:nvPr/>
        </p:nvSpPr>
        <p:spPr>
          <a:xfrm>
            <a:off x="530352" y="4800599"/>
            <a:ext cx="11100816" cy="320040"/>
          </a:xfrm>
          <a:prstGeom prst="roundRect">
            <a:avLst>
              <a:gd name="adj" fmla="val 4000"/>
            </a:avLst>
          </a:prstGeom>
          <a:solidFill>
            <a:srgbClr val="F4F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0080" y="4846319"/>
            <a:ext cx="2834640" cy="274320"/>
          </a:xfrm>
          <a:prstGeom prst="rect">
            <a:avLst/>
          </a:prstGeom>
          <a:noFill/>
        </p:spPr>
        <p:txBody>
          <a:bodyPr wrap="square" lIns="0" rIns="0" tIns="0" bIns="0">
            <a:spAutoFit/>
          </a:bodyPr>
          <a:lstStyle/>
          <a:p>
            <a:r>
              <a:rPr sz="950" b="1">
                <a:solidFill>
                  <a:srgbClr val="16204A"/>
                </a:solidFill>
                <a:latin typeface="Courier New"/>
              </a:rPr>
              <a:t>app/providers/</a:t>
            </a:r>
          </a:p>
        </p:txBody>
      </p:sp>
      <p:sp>
        <p:nvSpPr>
          <p:cNvPr id="36" name="TextBox 35"/>
          <p:cNvSpPr txBox="1"/>
          <p:nvPr/>
        </p:nvSpPr>
        <p:spPr>
          <a:xfrm>
            <a:off x="3657600" y="4846319"/>
            <a:ext cx="7863840" cy="274320"/>
          </a:xfrm>
          <a:prstGeom prst="rect">
            <a:avLst/>
          </a:prstGeom>
          <a:noFill/>
        </p:spPr>
        <p:txBody>
          <a:bodyPr wrap="square" lIns="0" rIns="0" tIns="0" bIns="0">
            <a:spAutoFit/>
          </a:bodyPr>
          <a:lstStyle/>
          <a:p>
            <a:r>
              <a:rPr sz="1050" b="0">
                <a:solidFill>
                  <a:srgbClr val="5A668F"/>
                </a:solidFill>
                <a:latin typeface="Calibri"/>
              </a:rPr>
              <a:t>Nokia NaC, hosted simulator, contract mock and fake-operator adapters, and the normalization between them</a:t>
            </a:r>
          </a:p>
        </p:txBody>
      </p:sp>
      <p:sp>
        <p:nvSpPr>
          <p:cNvPr id="37" name="TextBox 36"/>
          <p:cNvSpPr txBox="1"/>
          <p:nvPr/>
        </p:nvSpPr>
        <p:spPr>
          <a:xfrm>
            <a:off x="640080" y="5166359"/>
            <a:ext cx="2834640" cy="274320"/>
          </a:xfrm>
          <a:prstGeom prst="rect">
            <a:avLst/>
          </a:prstGeom>
          <a:noFill/>
        </p:spPr>
        <p:txBody>
          <a:bodyPr wrap="square" lIns="0" rIns="0" tIns="0" bIns="0">
            <a:spAutoFit/>
          </a:bodyPr>
          <a:lstStyle/>
          <a:p>
            <a:r>
              <a:rPr sz="950" b="1">
                <a:solidFill>
                  <a:srgbClr val="16204A"/>
                </a:solidFill>
                <a:latin typeface="Courier New"/>
              </a:rPr>
              <a:t>app/chain/, app/registry/</a:t>
            </a:r>
          </a:p>
        </p:txBody>
      </p:sp>
      <p:sp>
        <p:nvSpPr>
          <p:cNvPr id="38" name="TextBox 37"/>
          <p:cNvSpPr txBox="1"/>
          <p:nvPr/>
        </p:nvSpPr>
        <p:spPr>
          <a:xfrm>
            <a:off x="3657600" y="5166359"/>
            <a:ext cx="7863840" cy="274320"/>
          </a:xfrm>
          <a:prstGeom prst="rect">
            <a:avLst/>
          </a:prstGeom>
          <a:noFill/>
        </p:spPr>
        <p:txBody>
          <a:bodyPr wrap="square" lIns="0" rIns="0" tIns="0" bIns="0">
            <a:spAutoFit/>
          </a:bodyPr>
          <a:lstStyle/>
          <a:p>
            <a:r>
              <a:rPr sz="1050" b="0">
                <a:solidFill>
                  <a:srgbClr val="5A668F"/>
                </a:solidFill>
                <a:latin typeface="Calibri"/>
              </a:rPr>
              <a:t>Evidence chain construction, subject binding, and the Ed25519 vault</a:t>
            </a:r>
          </a:p>
        </p:txBody>
      </p:sp>
      <p:sp>
        <p:nvSpPr>
          <p:cNvPr id="39" name="Rounded Rectangle 38"/>
          <p:cNvSpPr/>
          <p:nvPr/>
        </p:nvSpPr>
        <p:spPr>
          <a:xfrm>
            <a:off x="530352" y="5440679"/>
            <a:ext cx="11100816" cy="320040"/>
          </a:xfrm>
          <a:prstGeom prst="roundRect">
            <a:avLst>
              <a:gd name="adj" fmla="val 4000"/>
            </a:avLst>
          </a:prstGeom>
          <a:solidFill>
            <a:srgbClr val="F4F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5486399"/>
            <a:ext cx="2834640" cy="274320"/>
          </a:xfrm>
          <a:prstGeom prst="rect">
            <a:avLst/>
          </a:prstGeom>
          <a:noFill/>
        </p:spPr>
        <p:txBody>
          <a:bodyPr wrap="square" lIns="0" rIns="0" tIns="0" bIns="0">
            <a:spAutoFit/>
          </a:bodyPr>
          <a:lstStyle/>
          <a:p>
            <a:r>
              <a:rPr sz="950" b="1">
                <a:solidFill>
                  <a:srgbClr val="16204A"/>
                </a:solidFill>
                <a:latin typeface="Courier New"/>
              </a:rPr>
              <a:t>app/api/, app/static/</a:t>
            </a:r>
          </a:p>
        </p:txBody>
      </p:sp>
      <p:sp>
        <p:nvSpPr>
          <p:cNvPr id="41" name="TextBox 40"/>
          <p:cNvSpPr txBox="1"/>
          <p:nvPr/>
        </p:nvSpPr>
        <p:spPr>
          <a:xfrm>
            <a:off x="3657600" y="5486399"/>
            <a:ext cx="7863840" cy="274320"/>
          </a:xfrm>
          <a:prstGeom prst="rect">
            <a:avLst/>
          </a:prstGeom>
          <a:noFill/>
        </p:spPr>
        <p:txBody>
          <a:bodyPr wrap="square" lIns="0" rIns="0" tIns="0" bIns="0">
            <a:spAutoFit/>
          </a:bodyPr>
          <a:lstStyle/>
          <a:p>
            <a:r>
              <a:rPr sz="1050" b="0">
                <a:solidFill>
                  <a:srgbClr val="5A668F"/>
                </a:solidFill>
                <a:latin typeface="Calibri"/>
              </a:rPr>
              <a:t>Routes, auth, rate and body limits; judge, API-key, console, lab and receipt pages in English and Arabic</a:t>
            </a:r>
          </a:p>
        </p:txBody>
      </p:sp>
      <p:sp>
        <p:nvSpPr>
          <p:cNvPr id="42" name="TextBox 41"/>
          <p:cNvSpPr txBox="1"/>
          <p:nvPr/>
        </p:nvSpPr>
        <p:spPr>
          <a:xfrm>
            <a:off x="640080" y="5806439"/>
            <a:ext cx="2834640" cy="274320"/>
          </a:xfrm>
          <a:prstGeom prst="rect">
            <a:avLst/>
          </a:prstGeom>
          <a:noFill/>
        </p:spPr>
        <p:txBody>
          <a:bodyPr wrap="square" lIns="0" rIns="0" tIns="0" bIns="0">
            <a:spAutoFit/>
          </a:bodyPr>
          <a:lstStyle/>
          <a:p>
            <a:r>
              <a:rPr sz="950" b="1">
                <a:solidFill>
                  <a:srgbClr val="16204A"/>
                </a:solidFill>
                <a:latin typeface="Courier New"/>
              </a:rPr>
              <a:t>app/db/, migrations/</a:t>
            </a:r>
          </a:p>
        </p:txBody>
      </p:sp>
      <p:sp>
        <p:nvSpPr>
          <p:cNvPr id="43" name="TextBox 42"/>
          <p:cNvSpPr txBox="1"/>
          <p:nvPr/>
        </p:nvSpPr>
        <p:spPr>
          <a:xfrm>
            <a:off x="3657600" y="5806439"/>
            <a:ext cx="7863840" cy="274320"/>
          </a:xfrm>
          <a:prstGeom prst="rect">
            <a:avLst/>
          </a:prstGeom>
          <a:noFill/>
        </p:spPr>
        <p:txBody>
          <a:bodyPr wrap="square" lIns="0" rIns="0" tIns="0" bIns="0">
            <a:spAutoFit/>
          </a:bodyPr>
          <a:lstStyle/>
          <a:p>
            <a:r>
              <a:rPr sz="1050" b="0">
                <a:solidFill>
                  <a:srgbClr val="5A668F"/>
                </a:solidFill>
                <a:latin typeface="Calibri"/>
              </a:rPr>
              <a:t>Persistence, Alembic revisions, and the run-event journal that makes an interrupted trace recoverable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70B20"/>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E5BB59"/>
                </a:solidFill>
                <a:latin typeface="Courier New" pitchFamily="34" charset="0"/>
                <a:ea typeface="Courier New" pitchFamily="34" charset="-122"/>
                <a:cs typeface="Courier New" pitchFamily="34" charset="-120"/>
              </a:rPr>
              <a:t>REPRODUCIBLE FROM A CLEAN CLONE</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EEF2FF"/>
                </a:solidFill>
                <a:latin typeface="Cambria" pitchFamily="34" charset="0"/>
                <a:ea typeface="Cambria" pitchFamily="34" charset="-122"/>
                <a:cs typeface="Cambria" pitchFamily="34" charset="-120"/>
              </a:rPr>
              <a:t>Every number is one command away.</a:t>
            </a:r>
            <a:endParaRPr lang="en-US" sz="3400" dirty="0"/>
          </a:p>
        </p:txBody>
      </p:sp>
      <p:sp>
        <p:nvSpPr>
          <p:cNvPr id="4" name="Shape 2"/>
          <p:cNvSpPr/>
          <p:nvPr/>
        </p:nvSpPr>
        <p:spPr>
          <a:xfrm>
            <a:off x="640080" y="2103120"/>
            <a:ext cx="3429000" cy="1481328"/>
          </a:xfrm>
          <a:prstGeom prst="roundRect">
            <a:avLst>
              <a:gd name="adj" fmla="val 5556"/>
            </a:avLst>
          </a:prstGeom>
          <a:solidFill>
            <a:srgbClr val="0C1230"/>
          </a:solidFill>
          <a:ln w="12700">
            <a:solidFill>
              <a:srgbClr val="2D3B70"/>
            </a:solidFill>
            <a:prstDash val="solid"/>
          </a:ln>
        </p:spPr>
        <p:txBody>
          <a:bodyPr/>
          <a:p/>
        </p:txBody>
      </p:sp>
      <p:sp>
        <p:nvSpPr>
          <p:cNvPr id="5" name="Text 3"/>
          <p:cNvSpPr txBox="1"/>
          <p:nvPr/>
        </p:nvSpPr>
        <p:spPr>
          <a:xfrm>
            <a:off x="896112" y="2286000"/>
            <a:ext cx="2916936" cy="502920"/>
          </a:xfrm>
          <a:prstGeom prst="rect">
            <a:avLst/>
          </a:prstGeom>
          <a:noFill/>
          <a:ln/>
        </p:spPr>
        <p:txBody>
          <a:bodyPr wrap="square" lIns="0" tIns="0" rIns="0" bIns="0" rtlCol="0" anchor="ctr"/>
          <a:lstStyle/>
          <a:p>
            <a:pPr indent="0" marL="0">
              <a:buNone/>
            </a:pPr>
            <a:r>
              <a:rPr lang="en-US" sz="3000" b="1" dirty="0">
                <a:solidFill>
                  <a:srgbClr val="E5BB59"/>
                </a:solidFill>
                <a:latin typeface="Courier New" pitchFamily="34" charset="0"/>
                <a:ea typeface="Courier New" pitchFamily="34" charset="-122"/>
                <a:cs typeface="Courier New" pitchFamily="34" charset="-120"/>
              </a:rPr>
              <a:t>8</a:t>
            </a:r>
            <a:endParaRPr lang="en-US" sz="3000" dirty="0"/>
          </a:p>
        </p:txBody>
      </p:sp>
      <p:sp>
        <p:nvSpPr>
          <p:cNvPr id="6" name="Text 4"/>
          <p:cNvSpPr txBox="1"/>
          <p:nvPr/>
        </p:nvSpPr>
        <p:spPr>
          <a:xfrm>
            <a:off x="896112" y="2834640"/>
            <a:ext cx="2916936" cy="658368"/>
          </a:xfrm>
          <a:prstGeom prst="rect">
            <a:avLst/>
          </a:prstGeom>
          <a:noFill/>
          <a:ln/>
        </p:spPr>
        <p:txBody>
          <a:bodyPr wrap="square" lIns="0" tIns="0" rIns="0" bIns="0" rtlCol="0" anchor="t"/>
          <a:lstStyle/>
          <a:p>
            <a:pPr indent="0" marL="0">
              <a:lnSpc>
                <a:spcPts val="1500"/>
              </a:lnSpc>
              <a:buNone/>
            </a:pPr>
            <a:r>
              <a:rPr lang="en-US" sz="1150" dirty="0">
                <a:solidFill>
                  <a:srgbClr val="AAB5D4"/>
                </a:solidFill>
                <a:latin typeface="Calibri" pitchFamily="34" charset="0"/>
                <a:ea typeface="Calibri" pitchFamily="34" charset="-122"/>
                <a:cs typeface="Calibri" pitchFamily="34" charset="-120"/>
              </a:rPr>
              <a:t>CAMARA APIs integrated on Nokia Network-as-Code</a:t>
            </a:r>
            <a:endParaRPr lang="en-US" sz="1150" dirty="0"/>
          </a:p>
        </p:txBody>
      </p:sp>
      <p:sp>
        <p:nvSpPr>
          <p:cNvPr id="7" name="Shape 5"/>
          <p:cNvSpPr/>
          <p:nvPr/>
        </p:nvSpPr>
        <p:spPr>
          <a:xfrm>
            <a:off x="4343400" y="2103120"/>
            <a:ext cx="3429000" cy="1481328"/>
          </a:xfrm>
          <a:prstGeom prst="roundRect">
            <a:avLst>
              <a:gd name="adj" fmla="val 5556"/>
            </a:avLst>
          </a:prstGeom>
          <a:solidFill>
            <a:srgbClr val="0C1230"/>
          </a:solidFill>
          <a:ln w="12700">
            <a:solidFill>
              <a:srgbClr val="2D3B70"/>
            </a:solidFill>
            <a:prstDash val="solid"/>
          </a:ln>
        </p:spPr>
        <p:txBody>
          <a:bodyPr/>
          <a:p/>
        </p:txBody>
      </p:sp>
      <p:sp>
        <p:nvSpPr>
          <p:cNvPr id="8" name="Text 6"/>
          <p:cNvSpPr txBox="1"/>
          <p:nvPr/>
        </p:nvSpPr>
        <p:spPr>
          <a:xfrm>
            <a:off x="4599432" y="2286000"/>
            <a:ext cx="2916936" cy="502920"/>
          </a:xfrm>
          <a:prstGeom prst="rect">
            <a:avLst/>
          </a:prstGeom>
          <a:noFill/>
          <a:ln/>
        </p:spPr>
        <p:txBody>
          <a:bodyPr wrap="square" lIns="0" tIns="0" rIns="0" bIns="0" rtlCol="0" anchor="ctr"/>
          <a:lstStyle/>
          <a:p>
            <a:pPr indent="0" marL="0">
              <a:buNone/>
            </a:pPr>
            <a:r>
              <a:rPr lang="en-US" sz="3000" b="1" dirty="0">
                <a:solidFill>
                  <a:srgbClr val="E5BB59"/>
                </a:solidFill>
                <a:latin typeface="Courier New" pitchFamily="34" charset="0"/>
                <a:ea typeface="Courier New" pitchFamily="34" charset="-122"/>
                <a:cs typeface="Courier New" pitchFamily="34" charset="-120"/>
              </a:rPr>
              <a:t>28</a:t>
            </a:r>
            <a:endParaRPr lang="en-US" sz="3000" dirty="0"/>
          </a:p>
        </p:txBody>
      </p:sp>
      <p:sp>
        <p:nvSpPr>
          <p:cNvPr id="9" name="Text 7"/>
          <p:cNvSpPr txBox="1"/>
          <p:nvPr/>
        </p:nvSpPr>
        <p:spPr>
          <a:xfrm>
            <a:off x="4599432" y="2834640"/>
            <a:ext cx="2916936" cy="658368"/>
          </a:xfrm>
          <a:prstGeom prst="rect">
            <a:avLst/>
          </a:prstGeom>
          <a:noFill/>
          <a:ln/>
        </p:spPr>
        <p:txBody>
          <a:bodyPr wrap="square" lIns="0" tIns="0" rIns="0" bIns="0" rtlCol="0" anchor="t"/>
          <a:lstStyle/>
          <a:p>
            <a:pPr indent="0" marL="0">
              <a:lnSpc>
                <a:spcPts val="1500"/>
              </a:lnSpc>
              <a:buNone/>
            </a:pPr>
            <a:r>
              <a:rPr lang="en-US" sz="1150" dirty="0">
                <a:solidFill>
                  <a:srgbClr val="AAB5D4"/>
                </a:solidFill>
                <a:latin typeface="Calibri" pitchFamily="34" charset="0"/>
                <a:ea typeface="Calibri" pitchFamily="34" charset="-122"/>
                <a:cs typeface="Calibri" pitchFamily="34" charset="-120"/>
              </a:rPr>
              <a:t>Recorded Nokia hosted-simulator attempts — 14 probe, 14 from the application itself, failures included</a:t>
            </a:r>
            <a:endParaRPr lang="en-US" sz="1150" dirty="0"/>
          </a:p>
        </p:txBody>
      </p:sp>
      <p:sp>
        <p:nvSpPr>
          <p:cNvPr id="10" name="Shape 8"/>
          <p:cNvSpPr/>
          <p:nvPr/>
        </p:nvSpPr>
        <p:spPr>
          <a:xfrm>
            <a:off x="8046720" y="2103120"/>
            <a:ext cx="3474720" cy="1481328"/>
          </a:xfrm>
          <a:prstGeom prst="roundRect">
            <a:avLst>
              <a:gd name="adj" fmla="val 5556"/>
            </a:avLst>
          </a:prstGeom>
          <a:solidFill>
            <a:srgbClr val="0C1230"/>
          </a:solidFill>
          <a:ln w="12700">
            <a:solidFill>
              <a:srgbClr val="2D3B70"/>
            </a:solidFill>
            <a:prstDash val="solid"/>
          </a:ln>
        </p:spPr>
        <p:txBody>
          <a:bodyPr/>
          <a:p/>
        </p:txBody>
      </p:sp>
      <p:sp>
        <p:nvSpPr>
          <p:cNvPr id="11" name="Text 9"/>
          <p:cNvSpPr txBox="1"/>
          <p:nvPr/>
        </p:nvSpPr>
        <p:spPr>
          <a:xfrm>
            <a:off x="8302752" y="2286000"/>
            <a:ext cx="2962656" cy="502920"/>
          </a:xfrm>
          <a:prstGeom prst="rect">
            <a:avLst/>
          </a:prstGeom>
          <a:noFill/>
          <a:ln/>
        </p:spPr>
        <p:txBody>
          <a:bodyPr wrap="square" lIns="0" tIns="0" rIns="0" bIns="0" rtlCol="0" anchor="ctr"/>
          <a:lstStyle/>
          <a:p>
            <a:pPr indent="0" marL="0">
              <a:buNone/>
            </a:pPr>
            <a:r>
              <a:rPr lang="en-US" sz="3000" b="1" dirty="0">
                <a:solidFill>
                  <a:srgbClr val="E5BB59"/>
                </a:solidFill>
                <a:latin typeface="Courier New" pitchFamily="34" charset="0"/>
                <a:ea typeface="Courier New" pitchFamily="34" charset="-122"/>
                <a:cs typeface="Courier New" pitchFamily="34" charset="-120"/>
              </a:rPr>
              <a:t>1,605</a:t>
            </a:r>
            <a:endParaRPr lang="en-US" sz="3000" dirty="0"/>
          </a:p>
        </p:txBody>
      </p:sp>
      <p:sp>
        <p:nvSpPr>
          <p:cNvPr id="12" name="Text 10"/>
          <p:cNvSpPr txBox="1"/>
          <p:nvPr/>
        </p:nvSpPr>
        <p:spPr>
          <a:xfrm>
            <a:off x="8302752" y="2834640"/>
            <a:ext cx="2962656" cy="658368"/>
          </a:xfrm>
          <a:prstGeom prst="rect">
            <a:avLst/>
          </a:prstGeom>
          <a:noFill/>
          <a:ln/>
        </p:spPr>
        <p:txBody>
          <a:bodyPr wrap="square" lIns="0" tIns="0" rIns="0" bIns="0" rtlCol="0" anchor="t"/>
          <a:lstStyle/>
          <a:p>
            <a:pPr indent="0" marL="0">
              <a:lnSpc>
                <a:spcPts val="1500"/>
              </a:lnSpc>
              <a:buNone/>
            </a:pPr>
            <a:r>
              <a:rPr lang="en-US" sz="1150" dirty="0">
                <a:solidFill>
                  <a:srgbClr val="AAB5D4"/>
                </a:solidFill>
                <a:latin typeface="Calibri" pitchFamily="34" charset="0"/>
                <a:ea typeface="Calibri" pitchFamily="34" charset="-122"/>
                <a:cs typeface="Calibri" pitchFamily="34" charset="-120"/>
              </a:rPr>
              <a:t>Checks passed on 11 September 2026 — 1,458 non-browser, 147 browser, English and Arabic</a:t>
            </a:r>
            <a:endParaRPr lang="en-US" sz="1150" dirty="0"/>
          </a:p>
        </p:txBody>
      </p:sp>
      <p:sp>
        <p:nvSpPr>
          <p:cNvPr id="13" name="Shape 11"/>
          <p:cNvSpPr/>
          <p:nvPr/>
        </p:nvSpPr>
        <p:spPr>
          <a:xfrm>
            <a:off x="640080" y="3794760"/>
            <a:ext cx="3429000" cy="1481328"/>
          </a:xfrm>
          <a:prstGeom prst="roundRect">
            <a:avLst>
              <a:gd name="adj" fmla="val 5556"/>
            </a:avLst>
          </a:prstGeom>
          <a:solidFill>
            <a:srgbClr val="0C1230"/>
          </a:solidFill>
          <a:ln w="12700">
            <a:solidFill>
              <a:srgbClr val="2D3B70"/>
            </a:solidFill>
            <a:prstDash val="solid"/>
          </a:ln>
        </p:spPr>
        <p:txBody>
          <a:bodyPr/>
          <a:p/>
        </p:txBody>
      </p:sp>
      <p:sp>
        <p:nvSpPr>
          <p:cNvPr id="14" name="Text 12"/>
          <p:cNvSpPr txBox="1"/>
          <p:nvPr/>
        </p:nvSpPr>
        <p:spPr>
          <a:xfrm>
            <a:off x="896112" y="3977640"/>
            <a:ext cx="2916936" cy="502920"/>
          </a:xfrm>
          <a:prstGeom prst="rect">
            <a:avLst/>
          </a:prstGeom>
          <a:noFill/>
          <a:ln/>
        </p:spPr>
        <p:txBody>
          <a:bodyPr wrap="square" lIns="0" tIns="0" rIns="0" bIns="0" rtlCol="0" anchor="ctr"/>
          <a:lstStyle/>
          <a:p>
            <a:pPr indent="0" marL="0">
              <a:buNone/>
            </a:pPr>
            <a:r>
              <a:rPr lang="en-US" sz="3000" b="1" dirty="0">
                <a:solidFill>
                  <a:srgbClr val="E5BB59"/>
                </a:solidFill>
                <a:latin typeface="Courier New" pitchFamily="34" charset="0"/>
                <a:ea typeface="Courier New" pitchFamily="34" charset="-122"/>
                <a:cs typeface="Courier New" pitchFamily="34" charset="-120"/>
              </a:rPr>
              <a:t>49 vs 78</a:t>
            </a:r>
            <a:endParaRPr lang="en-US" sz="3000" dirty="0"/>
          </a:p>
        </p:txBody>
      </p:sp>
      <p:sp>
        <p:nvSpPr>
          <p:cNvPr id="15" name="Text 13"/>
          <p:cNvSpPr txBox="1"/>
          <p:nvPr/>
        </p:nvSpPr>
        <p:spPr>
          <a:xfrm>
            <a:off x="896112" y="4526280"/>
            <a:ext cx="2916936" cy="658368"/>
          </a:xfrm>
          <a:prstGeom prst="rect">
            <a:avLst/>
          </a:prstGeom>
          <a:noFill/>
          <a:ln/>
        </p:spPr>
        <p:txBody>
          <a:bodyPr wrap="square" lIns="0" tIns="0" rIns="0" bIns="0" rtlCol="0" anchor="t"/>
          <a:lstStyle/>
          <a:p>
            <a:pPr indent="0" marL="0">
              <a:lnSpc>
                <a:spcPts val="1500"/>
              </a:lnSpc>
              <a:buNone/>
            </a:pPr>
            <a:r>
              <a:rPr lang="en-US" sz="1150" dirty="0">
                <a:solidFill>
                  <a:srgbClr val="AAB5D4"/>
                </a:solidFill>
                <a:latin typeface="Calibri" pitchFamily="34" charset="0"/>
                <a:ea typeface="Calibri" pitchFamily="34" charset="-122"/>
                <a:cs typeface="Calibri" pitchFamily="34" charset="-120"/>
              </a:rPr>
              <a:t>Provider operations vs a run-everything pipeline, 13 authored cases — a count of calls, not money</a:t>
            </a:r>
            <a:endParaRPr lang="en-US" sz="1150" dirty="0"/>
          </a:p>
        </p:txBody>
      </p:sp>
      <p:sp>
        <p:nvSpPr>
          <p:cNvPr id="16" name="Shape 14"/>
          <p:cNvSpPr/>
          <p:nvPr/>
        </p:nvSpPr>
        <p:spPr>
          <a:xfrm>
            <a:off x="4343400" y="3794760"/>
            <a:ext cx="3429000" cy="1481328"/>
          </a:xfrm>
          <a:prstGeom prst="roundRect">
            <a:avLst>
              <a:gd name="adj" fmla="val 5556"/>
            </a:avLst>
          </a:prstGeom>
          <a:solidFill>
            <a:srgbClr val="0C1230"/>
          </a:solidFill>
          <a:ln w="12700">
            <a:solidFill>
              <a:srgbClr val="2D3B70"/>
            </a:solidFill>
            <a:prstDash val="solid"/>
          </a:ln>
        </p:spPr>
        <p:txBody>
          <a:bodyPr/>
          <a:p/>
        </p:txBody>
      </p:sp>
      <p:sp>
        <p:nvSpPr>
          <p:cNvPr id="17" name="Text 15"/>
          <p:cNvSpPr txBox="1"/>
          <p:nvPr/>
        </p:nvSpPr>
        <p:spPr>
          <a:xfrm>
            <a:off x="4599432" y="3977640"/>
            <a:ext cx="2916936" cy="502920"/>
          </a:xfrm>
          <a:prstGeom prst="rect">
            <a:avLst/>
          </a:prstGeom>
          <a:noFill/>
          <a:ln/>
        </p:spPr>
        <p:txBody>
          <a:bodyPr wrap="square" lIns="0" tIns="0" rIns="0" bIns="0" rtlCol="0" anchor="ctr"/>
          <a:lstStyle/>
          <a:p>
            <a:pPr indent="0" marL="0">
              <a:buNone/>
            </a:pPr>
            <a:r>
              <a:rPr lang="en-US" sz="3000" b="1" dirty="0">
                <a:solidFill>
                  <a:srgbClr val="FFC35C"/>
                </a:solidFill>
                <a:latin typeface="Courier New" pitchFamily="34" charset="0"/>
                <a:ea typeface="Courier New" pitchFamily="34" charset="-122"/>
                <a:cs typeface="Courier New" pitchFamily="34" charset="-120"/>
              </a:rPr>
              <a:t>0.322</a:t>
            </a:r>
            <a:endParaRPr lang="en-US" sz="3000" dirty="0"/>
          </a:p>
        </p:txBody>
      </p:sp>
      <p:sp>
        <p:nvSpPr>
          <p:cNvPr id="18" name="Text 16"/>
          <p:cNvSpPr txBox="1"/>
          <p:nvPr/>
        </p:nvSpPr>
        <p:spPr>
          <a:xfrm>
            <a:off x="4599432" y="4526280"/>
            <a:ext cx="2916936" cy="658368"/>
          </a:xfrm>
          <a:prstGeom prst="rect">
            <a:avLst/>
          </a:prstGeom>
          <a:noFill/>
          <a:ln/>
        </p:spPr>
        <p:txBody>
          <a:bodyPr wrap="square" lIns="0" tIns="0" rIns="0" bIns="0" rtlCol="0" anchor="t"/>
          <a:lstStyle/>
          <a:p>
            <a:pPr indent="0" marL="0">
              <a:lnSpc>
                <a:spcPts val="1500"/>
              </a:lnSpc>
              <a:buNone/>
            </a:pPr>
            <a:r>
              <a:rPr lang="en-US" sz="1150" dirty="0">
                <a:solidFill>
                  <a:srgbClr val="AAB5D4"/>
                </a:solidFill>
                <a:latin typeface="Calibri" pitchFamily="34" charset="0"/>
                <a:ea typeface="Calibri" pitchFamily="34" charset="-122"/>
                <a:cs typeface="Calibri" pitchFamily="34" charset="-120"/>
              </a:rPr>
              <a:t>Uncalibrated policy score on the lead case — not a fraud probability</a:t>
            </a:r>
            <a:endParaRPr lang="en-US" sz="1150" dirty="0"/>
          </a:p>
        </p:txBody>
      </p:sp>
      <p:sp>
        <p:nvSpPr>
          <p:cNvPr id="19" name="Shape 17"/>
          <p:cNvSpPr/>
          <p:nvPr/>
        </p:nvSpPr>
        <p:spPr>
          <a:xfrm>
            <a:off x="8046720" y="3794760"/>
            <a:ext cx="3474720" cy="1481328"/>
          </a:xfrm>
          <a:prstGeom prst="roundRect">
            <a:avLst>
              <a:gd name="adj" fmla="val 5556"/>
            </a:avLst>
          </a:prstGeom>
          <a:solidFill>
            <a:srgbClr val="0C1230"/>
          </a:solidFill>
          <a:ln w="12700">
            <a:solidFill>
              <a:srgbClr val="2D3B70"/>
            </a:solidFill>
            <a:prstDash val="solid"/>
          </a:ln>
        </p:spPr>
        <p:txBody>
          <a:bodyPr/>
          <a:p/>
        </p:txBody>
      </p:sp>
      <p:sp>
        <p:nvSpPr>
          <p:cNvPr id="20" name="Text 18"/>
          <p:cNvSpPr txBox="1"/>
          <p:nvPr/>
        </p:nvSpPr>
        <p:spPr>
          <a:xfrm>
            <a:off x="8302752" y="3977640"/>
            <a:ext cx="2962656" cy="502920"/>
          </a:xfrm>
          <a:prstGeom prst="rect">
            <a:avLst/>
          </a:prstGeom>
          <a:noFill/>
          <a:ln/>
        </p:spPr>
        <p:txBody>
          <a:bodyPr wrap="square" lIns="0" tIns="0" rIns="0" bIns="0" rtlCol="0" anchor="ctr"/>
          <a:lstStyle/>
          <a:p>
            <a:pPr indent="0" marL="0">
              <a:buNone/>
            </a:pPr>
            <a:r>
              <a:rPr lang="en-US" sz="3000" b="1" dirty="0">
                <a:solidFill>
                  <a:srgbClr val="56D3A0"/>
                </a:solidFill>
                <a:latin typeface="Courier New" pitchFamily="34" charset="0"/>
                <a:ea typeface="Courier New" pitchFamily="34" charset="-122"/>
                <a:cs typeface="Courier New" pitchFamily="34" charset="-120"/>
              </a:rPr>
              <a:t>Ed25519</a:t>
            </a:r>
            <a:endParaRPr lang="en-US" sz="3000" dirty="0"/>
          </a:p>
        </p:txBody>
      </p:sp>
      <p:sp>
        <p:nvSpPr>
          <p:cNvPr id="21" name="Text 19"/>
          <p:cNvSpPr txBox="1"/>
          <p:nvPr/>
        </p:nvSpPr>
        <p:spPr>
          <a:xfrm>
            <a:off x="8302752" y="4526280"/>
            <a:ext cx="2962656" cy="658368"/>
          </a:xfrm>
          <a:prstGeom prst="rect">
            <a:avLst/>
          </a:prstGeom>
          <a:noFill/>
          <a:ln/>
        </p:spPr>
        <p:txBody>
          <a:bodyPr wrap="square" lIns="0" tIns="0" rIns="0" bIns="0" rtlCol="0" anchor="t"/>
          <a:lstStyle/>
          <a:p>
            <a:pPr indent="0" marL="0">
              <a:lnSpc>
                <a:spcPts val="1500"/>
              </a:lnSpc>
              <a:buNone/>
            </a:pPr>
            <a:r>
              <a:rPr lang="en-US" sz="1150" dirty="0">
                <a:solidFill>
                  <a:srgbClr val="AAB5D4"/>
                </a:solidFill>
                <a:latin typeface="Calibri" pitchFamily="34" charset="0"/>
                <a:ea typeface="Calibri" pitchFamily="34" charset="-122"/>
                <a:cs typeface="Calibri" pitchFamily="34" charset="-120"/>
              </a:rPr>
              <a:t>Signature over the exact stored receipt bytes</a:t>
            </a:r>
            <a:endParaRPr lang="en-US" sz="1150" dirty="0"/>
          </a:p>
        </p:txBody>
      </p:sp>
      <p:sp>
        <p:nvSpPr>
          <p:cNvPr id="22" name="Text 20"/>
          <p:cNvSpPr txBox="1"/>
          <p:nvPr/>
        </p:nvSpPr>
        <p:spPr>
          <a:xfrm>
            <a:off x="640080" y="5413248"/>
            <a:ext cx="10881360" cy="749808"/>
          </a:xfrm>
          <a:prstGeom prst="rect">
            <a:avLst/>
          </a:prstGeom>
          <a:noFill/>
          <a:ln/>
        </p:spPr>
        <p:txBody>
          <a:bodyPr wrap="square" lIns="0" tIns="0" rIns="0" bIns="0" rtlCol="0" anchor="ctr"/>
          <a:lstStyle/>
          <a:p>
            <a:pPr indent="0" marL="0">
              <a:lnSpc>
                <a:spcPts val="1550"/>
              </a:lnSpc>
              <a:buNone/>
            </a:pPr>
            <a:r>
              <a:rPr sz="1200" b="1">
                <a:solidFill>
                  <a:srgbClr val="E5BB59"/>
                </a:solidFill>
                <a:latin typeface="Courier New"/>
              </a:rPr>
              <a:t>make setup &amp;&amp; make judge   →   127.0.0.1:8010/judge</a:t>
            </a:r>
            <a:endParaRPr lang="en-US" sz="1300" dirty="0"/>
          </a:p>
          <a:p>
            <a:pPr>
              <a:lnSpc>
                <a:spcPts val="1550"/>
              </a:lnSpc>
            </a:pPr>
            <a:r>
              <a:rPr sz="1200" b="1">
                <a:solidFill>
                  <a:srgbClr val="E5BB59"/>
                </a:solidFill>
                <a:latin typeface="Courier New"/>
              </a:rPr>
              <a:t>LIVE   →   ahmadshadeed32-isnad-trust-engine.hf.space/judge</a:t>
            </a:r>
          </a:p>
          <a:p>
            <a:pPr>
              <a:lnSpc>
                <a:spcPts val="1550"/>
              </a:lnSpc>
            </a:pPr>
            <a:r>
              <a:rPr sz="1200" b="1">
                <a:solidFill>
                  <a:srgbClr val="E5BB59"/>
                </a:solidFill>
                <a:latin typeface="Courier New"/>
              </a:rPr>
              <a:t>API    →   …/api-keys   mint a merchant key behind the organizer code, then curl /v1/verify</a:t>
            </a:r>
          </a:p>
        </p:txBody>
      </p:sp>
      <p:sp>
        <p:nvSpPr>
          <p:cNvPr id="23" name="Text 21"/>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AAB5D4"/>
                </a:solidFill>
                <a:latin typeface="Courier New" pitchFamily="34" charset="0"/>
                <a:ea typeface="Courier New" pitchFamily="34" charset="-122"/>
                <a:cs typeface="Courier New" pitchFamily="34" charset="-120"/>
              </a:rPr>
              <a:t>TEN-STEP JUDGE GUIDE AT submission/JUDGE_GUIDE.md  ·  EACH STEP STATES ITS EXPECTED OUTPUT</a:t>
            </a:r>
            <a:endParaRPr lang="en-US" sz="95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274320"/>
          </a:xfrm>
          <a:prstGeom prst="rect">
            <a:avLst/>
          </a:prstGeom>
          <a:noFill/>
        </p:spPr>
        <p:txBody>
          <a:bodyPr wrap="square" lIns="0" rIns="0" tIns="0" bIns="0">
            <a:spAutoFit/>
          </a:bodyPr>
          <a:lstStyle/>
          <a:p>
            <a:r>
              <a:rPr sz="1100" b="1">
                <a:solidFill>
                  <a:srgbClr val="B8860B"/>
                </a:solidFill>
                <a:latin typeface="Courier New"/>
              </a:rPr>
              <a:t>BUSINESS MODEL AND MONETIZATION</a:t>
            </a:r>
          </a:p>
        </p:txBody>
      </p:sp>
      <p:sp>
        <p:nvSpPr>
          <p:cNvPr id="3" name="TextBox 2"/>
          <p:cNvSpPr txBox="1"/>
          <p:nvPr/>
        </p:nvSpPr>
        <p:spPr>
          <a:xfrm>
            <a:off x="640080" y="868680"/>
            <a:ext cx="10881360" cy="777240"/>
          </a:xfrm>
          <a:prstGeom prst="rect">
            <a:avLst/>
          </a:prstGeom>
          <a:noFill/>
        </p:spPr>
        <p:txBody>
          <a:bodyPr wrap="square" lIns="0" rIns="0" tIns="0" bIns="0">
            <a:spAutoFit/>
          </a:bodyPr>
          <a:lstStyle/>
          <a:p>
            <a:pPr>
              <a:lnSpc>
                <a:spcPts val="3808"/>
              </a:lnSpc>
            </a:pPr>
            <a:r>
              <a:rPr sz="3400" b="1">
                <a:solidFill>
                  <a:srgbClr val="16204A"/>
                </a:solidFill>
                <a:latin typeface="Cambria"/>
              </a:rPr>
              <a:t>Priced per decision. Not yet priced with a merchant.</a:t>
            </a:r>
          </a:p>
        </p:txBody>
      </p:sp>
      <p:sp>
        <p:nvSpPr>
          <p:cNvPr id="4" name="TextBox 3"/>
          <p:cNvSpPr txBox="1"/>
          <p:nvPr/>
        </p:nvSpPr>
        <p:spPr>
          <a:xfrm>
            <a:off x="640080" y="6199632"/>
            <a:ext cx="10881360" cy="274320"/>
          </a:xfrm>
          <a:prstGeom prst="rect">
            <a:avLst/>
          </a:prstGeom>
          <a:noFill/>
        </p:spPr>
        <p:txBody>
          <a:bodyPr wrap="square" lIns="0" rIns="0" tIns="0" bIns="0">
            <a:spAutoFit/>
          </a:bodyPr>
          <a:lstStyle/>
          <a:p>
            <a:r>
              <a:rPr sz="950" b="0">
                <a:solidFill>
                  <a:srgbClr val="5A668F"/>
                </a:solidFill>
                <a:latin typeface="Courier New"/>
              </a:rPr>
              <a:t>ISNAD  ·  THEME 4  ·  BUSINESS MODEL</a:t>
            </a:r>
          </a:p>
        </p:txBody>
      </p:sp>
      <p:sp>
        <p:nvSpPr>
          <p:cNvPr id="5" name="Rounded Rectangle 4"/>
          <p:cNvSpPr/>
          <p:nvPr/>
        </p:nvSpPr>
        <p:spPr>
          <a:xfrm>
            <a:off x="640080" y="1828800"/>
            <a:ext cx="3429000" cy="1572768"/>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96112" y="2029968"/>
            <a:ext cx="2916936" cy="274320"/>
          </a:xfrm>
          <a:prstGeom prst="rect">
            <a:avLst/>
          </a:prstGeom>
          <a:noFill/>
        </p:spPr>
        <p:txBody>
          <a:bodyPr wrap="square" lIns="0" rIns="0" tIns="0" bIns="0">
            <a:spAutoFit/>
          </a:bodyPr>
          <a:lstStyle/>
          <a:p>
            <a:r>
              <a:rPr sz="1500" b="1">
                <a:solidFill>
                  <a:srgbClr val="16204A"/>
                </a:solidFill>
                <a:latin typeface="Cambria"/>
              </a:rPr>
              <a:t>Who pays</a:t>
            </a:r>
          </a:p>
        </p:txBody>
      </p:sp>
      <p:sp>
        <p:nvSpPr>
          <p:cNvPr id="7" name="TextBox 6"/>
          <p:cNvSpPr txBox="1"/>
          <p:nvPr/>
        </p:nvSpPr>
        <p:spPr>
          <a:xfrm>
            <a:off x="896112" y="2377440"/>
            <a:ext cx="2916936" cy="914400"/>
          </a:xfrm>
          <a:prstGeom prst="rect">
            <a:avLst/>
          </a:prstGeom>
          <a:noFill/>
        </p:spPr>
        <p:txBody>
          <a:bodyPr wrap="square" lIns="0" rIns="0" tIns="0" bIns="0">
            <a:spAutoFit/>
          </a:bodyPr>
          <a:lstStyle/>
          <a:p>
            <a:pPr>
              <a:lnSpc>
                <a:spcPts val="1450"/>
              </a:lnSpc>
            </a:pPr>
            <a:r>
              <a:rPr sz="1100" b="0">
                <a:solidFill>
                  <a:srgbClr val="5A668F"/>
                </a:solidFill>
                <a:latin typeface="Calibri"/>
              </a:rPr>
              <a:t>Merchants, PSPs and wallets — per decision requested at a moment of risk: checkout, signup, payout, password reset. One endpoint, one answer, one receipt.</a:t>
            </a:r>
          </a:p>
        </p:txBody>
      </p:sp>
      <p:sp>
        <p:nvSpPr>
          <p:cNvPr id="8" name="Rounded Rectangle 7"/>
          <p:cNvSpPr/>
          <p:nvPr/>
        </p:nvSpPr>
        <p:spPr>
          <a:xfrm>
            <a:off x="4343400" y="1828800"/>
            <a:ext cx="3429000" cy="1572768"/>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99432" y="2029968"/>
            <a:ext cx="2916936" cy="274320"/>
          </a:xfrm>
          <a:prstGeom prst="rect">
            <a:avLst/>
          </a:prstGeom>
          <a:noFill/>
        </p:spPr>
        <p:txBody>
          <a:bodyPr wrap="square" lIns="0" rIns="0" tIns="0" bIns="0">
            <a:spAutoFit/>
          </a:bodyPr>
          <a:lstStyle/>
          <a:p>
            <a:r>
              <a:rPr sz="1500" b="1">
                <a:solidFill>
                  <a:srgbClr val="16204A"/>
                </a:solidFill>
                <a:latin typeface="Cambria"/>
              </a:rPr>
              <a:t>What it costs to serve</a:t>
            </a:r>
          </a:p>
        </p:txBody>
      </p:sp>
      <p:sp>
        <p:nvSpPr>
          <p:cNvPr id="10" name="TextBox 9"/>
          <p:cNvSpPr txBox="1"/>
          <p:nvPr/>
        </p:nvSpPr>
        <p:spPr>
          <a:xfrm>
            <a:off x="4599432" y="2377440"/>
            <a:ext cx="2916936" cy="914400"/>
          </a:xfrm>
          <a:prstGeom prst="rect">
            <a:avLst/>
          </a:prstGeom>
          <a:noFill/>
        </p:spPr>
        <p:txBody>
          <a:bodyPr wrap="square" lIns="0" rIns="0" tIns="0" bIns="0">
            <a:spAutoFit/>
          </a:bodyPr>
          <a:lstStyle/>
          <a:p>
            <a:pPr>
              <a:lnSpc>
                <a:spcPts val="1450"/>
              </a:lnSpc>
            </a:pPr>
            <a:r>
              <a:rPr sz="1100" b="0">
                <a:solidFill>
                  <a:srgbClr val="5A668F"/>
                </a:solidFill>
                <a:latin typeface="Calibri"/>
              </a:rPr>
              <a:t>The provider operations the agent chooses to buy. Evidence is the cost of goods, and the agent stops buying when the answer is justified.</a:t>
            </a:r>
          </a:p>
        </p:txBody>
      </p:sp>
      <p:sp>
        <p:nvSpPr>
          <p:cNvPr id="11" name="Rounded Rectangle 10"/>
          <p:cNvSpPr/>
          <p:nvPr/>
        </p:nvSpPr>
        <p:spPr>
          <a:xfrm>
            <a:off x="8046720" y="1828800"/>
            <a:ext cx="3429000" cy="1572768"/>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02752" y="2029968"/>
            <a:ext cx="2916936" cy="274320"/>
          </a:xfrm>
          <a:prstGeom prst="rect">
            <a:avLst/>
          </a:prstGeom>
          <a:noFill/>
        </p:spPr>
        <p:txBody>
          <a:bodyPr wrap="square" lIns="0" rIns="0" tIns="0" bIns="0">
            <a:spAutoFit/>
          </a:bodyPr>
          <a:lstStyle/>
          <a:p>
            <a:r>
              <a:rPr sz="1500" b="1">
                <a:solidFill>
                  <a:srgbClr val="16204A"/>
                </a:solidFill>
                <a:latin typeface="Cambria"/>
              </a:rPr>
              <a:t>What the operator gets</a:t>
            </a:r>
          </a:p>
        </p:txBody>
      </p:sp>
      <p:sp>
        <p:nvSpPr>
          <p:cNvPr id="13" name="TextBox 12"/>
          <p:cNvSpPr txBox="1"/>
          <p:nvPr/>
        </p:nvSpPr>
        <p:spPr>
          <a:xfrm>
            <a:off x="8302752" y="2377440"/>
            <a:ext cx="2916936" cy="914400"/>
          </a:xfrm>
          <a:prstGeom prst="rect">
            <a:avLst/>
          </a:prstGeom>
          <a:noFill/>
        </p:spPr>
        <p:txBody>
          <a:bodyPr wrap="square" lIns="0" rIns="0" tIns="0" bIns="0">
            <a:spAutoFit/>
          </a:bodyPr>
          <a:lstStyle/>
          <a:p>
            <a:pPr>
              <a:lnSpc>
                <a:spcPts val="1450"/>
              </a:lnSpc>
            </a:pPr>
            <a:r>
              <a:rPr sz="1100" b="0">
                <a:solidFill>
                  <a:srgbClr val="5A668F"/>
                </a:solidFill>
                <a:latin typeface="Calibri"/>
              </a:rPr>
              <a:t>A per-call CAMARA revenue line, and a recurring commercial reason for merchants to consume network capability rather than a one-off integration.</a:t>
            </a:r>
          </a:p>
        </p:txBody>
      </p:sp>
      <p:sp>
        <p:nvSpPr>
          <p:cNvPr id="14" name="Rounded Rectangle 13"/>
          <p:cNvSpPr/>
          <p:nvPr/>
        </p:nvSpPr>
        <p:spPr>
          <a:xfrm>
            <a:off x="640080" y="3611880"/>
            <a:ext cx="10881360" cy="960120"/>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3794760"/>
            <a:ext cx="10241280" cy="274320"/>
          </a:xfrm>
          <a:prstGeom prst="rect">
            <a:avLst/>
          </a:prstGeom>
          <a:noFill/>
        </p:spPr>
        <p:txBody>
          <a:bodyPr wrap="square" lIns="0" rIns="0" tIns="0" bIns="0">
            <a:spAutoFit/>
          </a:bodyPr>
          <a:lstStyle/>
          <a:p>
            <a:r>
              <a:rPr sz="1500" b="1">
                <a:solidFill>
                  <a:srgbClr val="16204A"/>
                </a:solidFill>
                <a:latin typeface="Cambria"/>
              </a:rPr>
              <a:t>Why per-decision pricing can work at all</a:t>
            </a:r>
          </a:p>
        </p:txBody>
      </p:sp>
      <p:sp>
        <p:nvSpPr>
          <p:cNvPr id="16" name="TextBox 15"/>
          <p:cNvSpPr txBox="1"/>
          <p:nvPr/>
        </p:nvSpPr>
        <p:spPr>
          <a:xfrm>
            <a:off x="960120" y="4133087"/>
            <a:ext cx="10241280" cy="384048"/>
          </a:xfrm>
          <a:prstGeom prst="rect">
            <a:avLst/>
          </a:prstGeom>
          <a:noFill/>
        </p:spPr>
        <p:txBody>
          <a:bodyPr wrap="square" lIns="0" rIns="0" tIns="0" bIns="0">
            <a:spAutoFit/>
          </a:bodyPr>
          <a:lstStyle/>
          <a:p>
            <a:pPr>
              <a:lnSpc>
                <a:spcPts val="1500"/>
              </a:lnSpc>
            </a:pPr>
            <a:r>
              <a:rPr sz="1150" b="0">
                <a:solidFill>
                  <a:srgbClr val="5A668F"/>
                </a:solidFill>
                <a:latin typeface="Calibri"/>
              </a:rPr>
              <a:t>A pipeline that runs every API spends the same on a clean checkout as on a suspicious one. An agent that stops when the answer is justified does not: </a:t>
            </a:r>
            <a:r>
              <a:rPr sz="1150" b="1">
                <a:solidFill>
                  <a:srgbClr val="16204A"/>
                </a:solidFill>
                <a:latin typeface="Calibri"/>
              </a:rPr>
              <a:t>49 provider operations against 78</a:t>
            </a:r>
            <a:r>
              <a:rPr sz="1150" b="0">
                <a:solidFill>
                  <a:srgbClr val="5A668F"/>
                </a:solidFill>
                <a:latin typeface="Calibri"/>
              </a:rPr>
              <a:t> over the same thirteen authored cases. Thin COD margins are the constraint the architecture is answering.</a:t>
            </a:r>
          </a:p>
        </p:txBody>
      </p:sp>
      <p:sp>
        <p:nvSpPr>
          <p:cNvPr id="17" name="Rounded Rectangle 16"/>
          <p:cNvSpPr/>
          <p:nvPr/>
        </p:nvSpPr>
        <p:spPr>
          <a:xfrm>
            <a:off x="640080" y="4709160"/>
            <a:ext cx="10881360" cy="1143000"/>
          </a:xfrm>
          <a:prstGeom prst="roundRect">
            <a:avLst>
              <a:gd name="adj" fmla="val 4000"/>
            </a:avLst>
          </a:prstGeom>
          <a:solidFill>
            <a:srgbClr val="FBF6E9"/>
          </a:solidFill>
          <a:ln w="12700">
            <a:solidFill>
              <a:srgbClr val="EBDC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4873752"/>
            <a:ext cx="10241280" cy="274320"/>
          </a:xfrm>
          <a:prstGeom prst="rect">
            <a:avLst/>
          </a:prstGeom>
          <a:noFill/>
        </p:spPr>
        <p:txBody>
          <a:bodyPr wrap="square" lIns="0" rIns="0" tIns="0" bIns="0">
            <a:spAutoFit/>
          </a:bodyPr>
          <a:lstStyle/>
          <a:p>
            <a:r>
              <a:rPr sz="1400" b="1">
                <a:solidFill>
                  <a:srgbClr val="16204A"/>
                </a:solidFill>
                <a:latin typeface="Cambria"/>
              </a:rPr>
              <a:t>No price has been set, and none can be derived from this repository</a:t>
            </a:r>
          </a:p>
        </p:txBody>
      </p:sp>
      <p:sp>
        <p:nvSpPr>
          <p:cNvPr id="19" name="TextBox 18"/>
          <p:cNvSpPr txBox="1"/>
          <p:nvPr/>
        </p:nvSpPr>
        <p:spPr>
          <a:xfrm>
            <a:off x="960120" y="5184648"/>
            <a:ext cx="10241280" cy="603504"/>
          </a:xfrm>
          <a:prstGeom prst="rect">
            <a:avLst/>
          </a:prstGeom>
          <a:noFill/>
        </p:spPr>
        <p:txBody>
          <a:bodyPr wrap="square" lIns="0" rIns="0" tIns="0" bIns="0">
            <a:spAutoFit/>
          </a:bodyPr>
          <a:lstStyle/>
          <a:p>
            <a:pPr>
              <a:lnSpc>
                <a:spcPts val="1400"/>
              </a:lnSpc>
            </a:pPr>
            <a:r>
              <a:rPr sz="1100" b="0">
                <a:solidFill>
                  <a:srgbClr val="5A668F"/>
                </a:solidFill>
                <a:latin typeface="Calibri"/>
              </a:rPr>
              <a:t>49 vs 78 is a count of calls, not money: policy.yaml's costs are normalized budget units used to rank checks, not Nokia's prices and not convertible to them. Revenue, margin and willingness to pay are unmeasured. Route to market is shadow mode first — Isnad writes a signed chain while the merchant's existing rule still decides the order — and pricing follows the outcome data, not the pitch.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B8860B"/>
                </a:solidFill>
                <a:latin typeface="Courier New" pitchFamily="34" charset="0"/>
                <a:ea typeface="Courier New" pitchFamily="34" charset="-122"/>
                <a:cs typeface="Courier New" pitchFamily="34" charset="-120"/>
              </a:rPr>
              <a:t>SCALE AND COMMERCIAL SHAPE</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16204A"/>
                </a:solidFill>
                <a:latin typeface="Cambria" pitchFamily="34" charset="0"/>
                <a:ea typeface="Cambria" pitchFamily="34" charset="-122"/>
                <a:cs typeface="Cambria" pitchFamily="34" charset="-120"/>
              </a:rPr>
              <a:t>The intended shape. Not yet measured.</a:t>
            </a:r>
            <a:endParaRPr lang="en-US" sz="3400" dirty="0"/>
          </a:p>
        </p:txBody>
      </p:sp>
      <p:sp>
        <p:nvSpPr>
          <p:cNvPr id="4" name="Text 2"/>
          <p:cNvSpPr txBox="1"/>
          <p:nvPr/>
        </p:nvSpPr>
        <p:spPr>
          <a:xfrm>
            <a:off x="640080" y="2011680"/>
            <a:ext cx="5212080" cy="274320"/>
          </a:xfrm>
          <a:prstGeom prst="rect">
            <a:avLst/>
          </a:prstGeom>
          <a:noFill/>
          <a:ln/>
        </p:spPr>
        <p:txBody>
          <a:bodyPr wrap="square" lIns="0" tIns="0" rIns="0" bIns="0" rtlCol="0" anchor="ctr"/>
          <a:lstStyle/>
          <a:p>
            <a:pPr indent="0" marL="0">
              <a:buNone/>
            </a:pPr>
            <a:r>
              <a:rPr lang="en-US" sz="1500" b="1" dirty="0">
                <a:solidFill>
                  <a:srgbClr val="16204A"/>
                </a:solidFill>
                <a:latin typeface="Cambria" pitchFamily="34" charset="0"/>
                <a:ea typeface="Cambria" pitchFamily="34" charset="-122"/>
                <a:cs typeface="Cambria" pitchFamily="34" charset="-120"/>
              </a:rPr>
              <a:t>Merchants &amp; couriers</a:t>
            </a:r>
            <a:endParaRPr lang="en-US" sz="1500" dirty="0"/>
          </a:p>
        </p:txBody>
      </p:sp>
      <p:sp>
        <p:nvSpPr>
          <p:cNvPr id="5" name="Text 3"/>
          <p:cNvSpPr txBox="1"/>
          <p:nvPr/>
        </p:nvSpPr>
        <p:spPr>
          <a:xfrm>
            <a:off x="640080" y="2322576"/>
            <a:ext cx="5212080" cy="777240"/>
          </a:xfrm>
          <a:prstGeom prst="rect">
            <a:avLst/>
          </a:prstGeom>
          <a:noFill/>
          <a:ln/>
        </p:spPr>
        <p:txBody>
          <a:bodyPr wrap="square" lIns="0" tIns="0" rIns="0" bIns="0" rtlCol="0" anchor="ctr"/>
          <a:lstStyle/>
          <a:p>
            <a:pPr indent="0" marL="0">
              <a:lnSpc>
                <a:spcPts val="1700"/>
              </a:lnSpc>
              <a:buNone/>
            </a:pPr>
            <a:r>
              <a:rPr lang="en-US" sz="1200" dirty="0">
                <a:solidFill>
                  <a:srgbClr val="5A668F"/>
                </a:solidFill>
                <a:latin typeface="Calibri" pitchFamily="34" charset="0"/>
                <a:ea typeface="Calibri" pitchFamily="34" charset="-122"/>
                <a:cs typeface="Calibri" pitchFamily="34" charset="-120"/>
              </a:rPr>
              <a:t>Fewer fake and refused COD orders, and fewer vans sent to nobody.</a:t>
            </a:r>
            <a:endParaRPr lang="en-US" sz="1200" dirty="0"/>
          </a:p>
        </p:txBody>
      </p:sp>
      <p:sp>
        <p:nvSpPr>
          <p:cNvPr id="6" name="Text 4"/>
          <p:cNvSpPr txBox="1"/>
          <p:nvPr/>
        </p:nvSpPr>
        <p:spPr>
          <a:xfrm>
            <a:off x="6263640" y="2011680"/>
            <a:ext cx="5212080" cy="274320"/>
          </a:xfrm>
          <a:prstGeom prst="rect">
            <a:avLst/>
          </a:prstGeom>
          <a:noFill/>
          <a:ln/>
        </p:spPr>
        <p:txBody>
          <a:bodyPr wrap="square" lIns="0" tIns="0" rIns="0" bIns="0" rtlCol="0" anchor="ctr"/>
          <a:lstStyle/>
          <a:p>
            <a:pPr indent="0" marL="0">
              <a:buNone/>
            </a:pPr>
            <a:r>
              <a:rPr lang="en-US" sz="1500" b="1" dirty="0">
                <a:solidFill>
                  <a:srgbClr val="16204A"/>
                </a:solidFill>
                <a:latin typeface="Cambria" pitchFamily="34" charset="0"/>
                <a:ea typeface="Cambria" pitchFamily="34" charset="-122"/>
                <a:cs typeface="Cambria" pitchFamily="34" charset="-120"/>
              </a:rPr>
              <a:t>Banks &amp; wallets</a:t>
            </a:r>
            <a:endParaRPr lang="en-US" sz="1500" dirty="0"/>
          </a:p>
        </p:txBody>
      </p:sp>
      <p:sp>
        <p:nvSpPr>
          <p:cNvPr id="7" name="Text 5"/>
          <p:cNvSpPr txBox="1"/>
          <p:nvPr/>
        </p:nvSpPr>
        <p:spPr>
          <a:xfrm>
            <a:off x="6263640" y="2322576"/>
            <a:ext cx="5212080" cy="777240"/>
          </a:xfrm>
          <a:prstGeom prst="rect">
            <a:avLst/>
          </a:prstGeom>
          <a:noFill/>
          <a:ln/>
        </p:spPr>
        <p:txBody>
          <a:bodyPr wrap="square" lIns="0" tIns="0" rIns="0" bIns="0" rtlCol="0" anchor="ctr"/>
          <a:lstStyle/>
          <a:p>
            <a:pPr indent="0" marL="0">
              <a:lnSpc>
                <a:spcPts val="1700"/>
              </a:lnSpc>
              <a:buNone/>
            </a:pPr>
            <a:r>
              <a:rPr lang="en-US" sz="1200" dirty="0">
                <a:solidFill>
                  <a:srgbClr val="5A668F"/>
                </a:solidFill>
                <a:latin typeface="Calibri" pitchFamily="34" charset="0"/>
                <a:ea typeface="Calibri" pitchFamily="34" charset="-122"/>
                <a:cs typeface="Calibri" pitchFamily="34" charset="-120"/>
              </a:rPr>
              <a:t>Takeover defence at payout and password reset without OTPs, selfies or documents.</a:t>
            </a:r>
            <a:endParaRPr lang="en-US" sz="1200" dirty="0"/>
          </a:p>
        </p:txBody>
      </p:sp>
      <p:sp>
        <p:nvSpPr>
          <p:cNvPr id="8" name="Text 6"/>
          <p:cNvSpPr txBox="1"/>
          <p:nvPr/>
        </p:nvSpPr>
        <p:spPr>
          <a:xfrm>
            <a:off x="640080" y="3246120"/>
            <a:ext cx="5212080" cy="274320"/>
          </a:xfrm>
          <a:prstGeom prst="rect">
            <a:avLst/>
          </a:prstGeom>
          <a:noFill/>
          <a:ln/>
        </p:spPr>
        <p:txBody>
          <a:bodyPr wrap="square" lIns="0" tIns="0" rIns="0" bIns="0" rtlCol="0" anchor="ctr"/>
          <a:lstStyle/>
          <a:p>
            <a:pPr indent="0" marL="0">
              <a:buNone/>
            </a:pPr>
            <a:r>
              <a:rPr lang="en-US" sz="1500" b="1" dirty="0">
                <a:solidFill>
                  <a:srgbClr val="16204A"/>
                </a:solidFill>
                <a:latin typeface="Cambria" pitchFamily="34" charset="0"/>
                <a:ea typeface="Cambria" pitchFamily="34" charset="-122"/>
                <a:cs typeface="Cambria" pitchFamily="34" charset="-120"/>
              </a:rPr>
              <a:t>Customers</a:t>
            </a:r>
            <a:endParaRPr lang="en-US" sz="1500" dirty="0"/>
          </a:p>
        </p:txBody>
      </p:sp>
      <p:sp>
        <p:nvSpPr>
          <p:cNvPr id="9" name="Text 7"/>
          <p:cNvSpPr txBox="1"/>
          <p:nvPr/>
        </p:nvSpPr>
        <p:spPr>
          <a:xfrm>
            <a:off x="640080" y="3557016"/>
            <a:ext cx="5212080" cy="777240"/>
          </a:xfrm>
          <a:prstGeom prst="rect">
            <a:avLst/>
          </a:prstGeom>
          <a:noFill/>
          <a:ln/>
        </p:spPr>
        <p:txBody>
          <a:bodyPr wrap="square" lIns="0" tIns="0" rIns="0" bIns="0" rtlCol="0" anchor="ctr"/>
          <a:lstStyle/>
          <a:p>
            <a:pPr indent="0" marL="0">
              <a:lnSpc>
                <a:spcPts val="1700"/>
              </a:lnSpc>
              <a:buNone/>
            </a:pPr>
            <a:r>
              <a:rPr lang="en-US" sz="1200" dirty="0">
                <a:solidFill>
                  <a:srgbClr val="5A668F"/>
                </a:solidFill>
                <a:latin typeface="Calibri" pitchFamily="34" charset="0"/>
                <a:ea typeface="Calibri" pitchFamily="34" charset="-122"/>
                <a:cs typeface="Calibri" pitchFamily="34" charset="-120"/>
              </a:rPr>
              <a:t>A legitimate SIM replacement gets a step-up, not a decline. A clean signup gets no OTP at all.</a:t>
            </a:r>
            <a:endParaRPr lang="en-US" sz="1200" dirty="0"/>
          </a:p>
        </p:txBody>
      </p:sp>
      <p:sp>
        <p:nvSpPr>
          <p:cNvPr id="10" name="Text 8"/>
          <p:cNvSpPr txBox="1"/>
          <p:nvPr/>
        </p:nvSpPr>
        <p:spPr>
          <a:xfrm>
            <a:off x="6263640" y="3246120"/>
            <a:ext cx="5212080" cy="274320"/>
          </a:xfrm>
          <a:prstGeom prst="rect">
            <a:avLst/>
          </a:prstGeom>
          <a:noFill/>
          <a:ln/>
        </p:spPr>
        <p:txBody>
          <a:bodyPr wrap="square" lIns="0" tIns="0" rIns="0" bIns="0" rtlCol="0" anchor="ctr"/>
          <a:lstStyle/>
          <a:p>
            <a:pPr indent="0" marL="0">
              <a:buNone/>
            </a:pPr>
            <a:r>
              <a:rPr lang="en-US" sz="1500" b="1" dirty="0">
                <a:solidFill>
                  <a:srgbClr val="16204A"/>
                </a:solidFill>
                <a:latin typeface="Cambria" pitchFamily="34" charset="0"/>
                <a:ea typeface="Cambria" pitchFamily="34" charset="-122"/>
                <a:cs typeface="Cambria" pitchFamily="34" charset="-120"/>
              </a:rPr>
              <a:t>Financial inclusion</a:t>
            </a:r>
            <a:endParaRPr lang="en-US" sz="1500" dirty="0"/>
          </a:p>
        </p:txBody>
      </p:sp>
      <p:sp>
        <p:nvSpPr>
          <p:cNvPr id="11" name="Text 9"/>
          <p:cNvSpPr txBox="1"/>
          <p:nvPr/>
        </p:nvSpPr>
        <p:spPr>
          <a:xfrm>
            <a:off x="6263640" y="3557016"/>
            <a:ext cx="5212080" cy="777240"/>
          </a:xfrm>
          <a:prstGeom prst="rect">
            <a:avLst/>
          </a:prstGeom>
          <a:noFill/>
          <a:ln/>
        </p:spPr>
        <p:txBody>
          <a:bodyPr wrap="square" lIns="0" tIns="0" rIns="0" bIns="0" rtlCol="0" anchor="ctr"/>
          <a:lstStyle/>
          <a:p>
            <a:pPr indent="0" marL="0">
              <a:lnSpc>
                <a:spcPts val="1700"/>
              </a:lnSpc>
              <a:buNone/>
            </a:pPr>
            <a:r>
              <a:rPr lang="en-US" sz="1200" dirty="0">
                <a:solidFill>
                  <a:srgbClr val="5A668F"/>
                </a:solidFill>
                <a:latin typeface="Calibri" pitchFamily="34" charset="0"/>
                <a:ea typeface="Calibri" pitchFamily="34" charset="-122"/>
                <a:cs typeface="Calibri" pitchFamily="34" charset="-120"/>
              </a:rPr>
              <a:t>Thin-file customers assessed on SIM tenure and location stability. Most fraud tools shrink a market; this one grows one.</a:t>
            </a:r>
            <a:endParaRPr lang="en-US" sz="1200" dirty="0"/>
          </a:p>
        </p:txBody>
      </p:sp>
      <p:sp>
        <p:nvSpPr>
          <p:cNvPr id="12" name="Text 10"/>
          <p:cNvSpPr txBox="1"/>
          <p:nvPr/>
        </p:nvSpPr>
        <p:spPr>
          <a:xfrm>
            <a:off x="640080" y="4480560"/>
            <a:ext cx="5212080" cy="274320"/>
          </a:xfrm>
          <a:prstGeom prst="rect">
            <a:avLst/>
          </a:prstGeom>
          <a:noFill/>
          <a:ln/>
        </p:spPr>
        <p:txBody>
          <a:bodyPr wrap="square" lIns="0" tIns="0" rIns="0" bIns="0" rtlCol="0" anchor="ctr"/>
          <a:lstStyle/>
          <a:p>
            <a:pPr indent="0" marL="0">
              <a:buNone/>
            </a:pPr>
            <a:r>
              <a:rPr lang="en-US" sz="1500" b="1" dirty="0">
                <a:solidFill>
                  <a:srgbClr val="16204A"/>
                </a:solidFill>
                <a:latin typeface="Cambria" pitchFamily="34" charset="0"/>
                <a:ea typeface="Cambria" pitchFamily="34" charset="-122"/>
                <a:cs typeface="Cambria" pitchFamily="34" charset="-120"/>
              </a:rPr>
              <a:t>Operators</a:t>
            </a:r>
            <a:endParaRPr lang="en-US" sz="1500" dirty="0"/>
          </a:p>
        </p:txBody>
      </p:sp>
      <p:sp>
        <p:nvSpPr>
          <p:cNvPr id="13" name="Text 11"/>
          <p:cNvSpPr txBox="1"/>
          <p:nvPr/>
        </p:nvSpPr>
        <p:spPr>
          <a:xfrm>
            <a:off x="640080" y="4791456"/>
            <a:ext cx="5212080" cy="777240"/>
          </a:xfrm>
          <a:prstGeom prst="rect">
            <a:avLst/>
          </a:prstGeom>
          <a:noFill/>
          <a:ln/>
        </p:spPr>
        <p:txBody>
          <a:bodyPr wrap="square" lIns="0" tIns="0" rIns="0" bIns="0" rtlCol="0" anchor="ctr"/>
          <a:lstStyle/>
          <a:p>
            <a:pPr indent="0" marL="0">
              <a:lnSpc>
                <a:spcPts val="1700"/>
              </a:lnSpc>
              <a:buNone/>
            </a:pPr>
            <a:r>
              <a:rPr lang="en-US" sz="1200" dirty="0">
                <a:solidFill>
                  <a:srgbClr val="5A668F"/>
                </a:solidFill>
                <a:latin typeface="Calibri" pitchFamily="34" charset="0"/>
                <a:ea typeface="Calibri" pitchFamily="34" charset="-122"/>
                <a:cs typeface="Calibri" pitchFamily="34" charset="-120"/>
              </a:rPr>
              <a:t>A measurable revenue line for CAMARA, and a recurring reason for merchants to consume network capability.</a:t>
            </a:r>
            <a:endParaRPr lang="en-US" sz="1200" dirty="0"/>
          </a:p>
        </p:txBody>
      </p:sp>
      <p:sp>
        <p:nvSpPr>
          <p:cNvPr id="14" name="Shape 12"/>
          <p:cNvSpPr/>
          <p:nvPr/>
        </p:nvSpPr>
        <p:spPr>
          <a:xfrm>
            <a:off x="6263640" y="4480560"/>
            <a:ext cx="5257800" cy="1234440"/>
          </a:xfrm>
          <a:prstGeom prst="roundRect">
            <a:avLst>
              <a:gd name="adj" fmla="val 6667"/>
            </a:avLst>
          </a:prstGeom>
          <a:solidFill>
            <a:srgbClr val="F4F6FD"/>
          </a:solidFill>
          <a:ln w="12700">
            <a:solidFill>
              <a:srgbClr val="DCE2F2"/>
            </a:solidFill>
            <a:prstDash val="solid"/>
          </a:ln>
        </p:spPr>
      </p:sp>
      <p:sp>
        <p:nvSpPr>
          <p:cNvPr id="15" name="Text 13"/>
          <p:cNvSpPr txBox="1"/>
          <p:nvPr/>
        </p:nvSpPr>
        <p:spPr>
          <a:xfrm>
            <a:off x="6537960" y="4645152"/>
            <a:ext cx="4754880" cy="274320"/>
          </a:xfrm>
          <a:prstGeom prst="rect">
            <a:avLst/>
          </a:prstGeom>
          <a:noFill/>
          <a:ln/>
        </p:spPr>
        <p:txBody>
          <a:bodyPr wrap="square" lIns="0" tIns="0" rIns="0" bIns="0" rtlCol="0" anchor="ctr"/>
          <a:lstStyle/>
          <a:p>
            <a:pPr indent="0" marL="0">
              <a:buNone/>
            </a:pPr>
            <a:r>
              <a:rPr lang="en-US" sz="1000" b="1" spc="160" kern="0" dirty="0">
                <a:solidFill>
                  <a:srgbClr val="B8860B"/>
                </a:solidFill>
                <a:latin typeface="Courier New" pitchFamily="34" charset="0"/>
                <a:ea typeface="Courier New" pitchFamily="34" charset="-122"/>
                <a:cs typeface="Courier New" pitchFamily="34" charset="-120"/>
              </a:rPr>
              <a:t>One engine, two themes</a:t>
            </a:r>
            <a:endParaRPr lang="en-US" sz="1000" dirty="0"/>
          </a:p>
        </p:txBody>
      </p:sp>
      <p:sp>
        <p:nvSpPr>
          <p:cNvPr id="16" name="Text 14"/>
          <p:cNvSpPr txBox="1"/>
          <p:nvPr/>
        </p:nvSpPr>
        <p:spPr>
          <a:xfrm>
            <a:off x="6537960" y="4956048"/>
            <a:ext cx="4754880" cy="594360"/>
          </a:xfrm>
          <a:prstGeom prst="rect">
            <a:avLst/>
          </a:prstGeom>
          <a:noFill/>
          <a:ln/>
        </p:spPr>
        <p:txBody>
          <a:bodyPr wrap="square" lIns="0" tIns="0" rIns="0" bIns="0" rtlCol="0" anchor="ctr"/>
          <a:lstStyle/>
          <a:p>
            <a:pPr indent="0" marL="0">
              <a:lnSpc>
                <a:spcPts val="1700"/>
              </a:lnSpc>
              <a:buNone/>
            </a:pPr>
            <a:r>
              <a:rPr lang="en-US" sz="1200" dirty="0">
                <a:solidFill>
                  <a:srgbClr val="5A668F"/>
                </a:solidFill>
                <a:latin typeface="Calibri" pitchFamily="34" charset="0"/>
                <a:ea typeface="Calibri" pitchFamily="34" charset="-122"/>
                <a:cs typeface="Calibri" pitchFamily="34" charset="-120"/>
              </a:rPr>
              <a:t>Theme 1 — cross-border identity verification — is the same evidence chain with a different hypothesis.</a:t>
            </a:r>
            <a:endParaRPr lang="en-US" sz="1200" dirty="0"/>
          </a:p>
        </p:txBody>
      </p:sp>
      <p:sp>
        <p:nvSpPr>
          <p:cNvPr id="17" name="Text 15"/>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5A668F"/>
                </a:solidFill>
                <a:latin typeface="Courier New" pitchFamily="34" charset="0"/>
                <a:ea typeface="Courier New" pitchFamily="34" charset="-122"/>
                <a:cs typeface="Courier New" pitchFamily="34" charset="-120"/>
              </a:rPr>
              <a:t>ISNAD  ·  THEME 4  ·  IMPACT &amp; SCALE</a:t>
            </a:r>
            <a:endParaRPr lang="en-US" sz="95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274320"/>
          </a:xfrm>
          <a:prstGeom prst="rect">
            <a:avLst/>
          </a:prstGeom>
          <a:noFill/>
        </p:spPr>
        <p:txBody>
          <a:bodyPr wrap="square" lIns="0" rIns="0" tIns="0" bIns="0">
            <a:spAutoFit/>
          </a:bodyPr>
          <a:lstStyle/>
          <a:p>
            <a:r>
              <a:rPr sz="1100" b="1">
                <a:solidFill>
                  <a:srgbClr val="B8860B"/>
                </a:solidFill>
                <a:latin typeface="Courier New"/>
              </a:rPr>
              <a:t>TEAM AND ROLES</a:t>
            </a:r>
          </a:p>
        </p:txBody>
      </p:sp>
      <p:sp>
        <p:nvSpPr>
          <p:cNvPr id="3" name="TextBox 2"/>
          <p:cNvSpPr txBox="1"/>
          <p:nvPr/>
        </p:nvSpPr>
        <p:spPr>
          <a:xfrm>
            <a:off x="640080" y="868680"/>
            <a:ext cx="10881360" cy="777240"/>
          </a:xfrm>
          <a:prstGeom prst="rect">
            <a:avLst/>
          </a:prstGeom>
          <a:noFill/>
        </p:spPr>
        <p:txBody>
          <a:bodyPr wrap="square" lIns="0" rIns="0" tIns="0" bIns="0">
            <a:spAutoFit/>
          </a:bodyPr>
          <a:lstStyle/>
          <a:p>
            <a:pPr>
              <a:lnSpc>
                <a:spcPts val="3808"/>
              </a:lnSpc>
            </a:pPr>
            <a:r>
              <a:rPr sz="3400" b="1">
                <a:solidFill>
                  <a:srgbClr val="16204A"/>
                </a:solidFill>
                <a:latin typeface="Cambria"/>
              </a:rPr>
              <a:t>Two engineers, one system, shared across the stack.</a:t>
            </a:r>
          </a:p>
        </p:txBody>
      </p:sp>
      <p:sp>
        <p:nvSpPr>
          <p:cNvPr id="4" name="TextBox 3"/>
          <p:cNvSpPr txBox="1"/>
          <p:nvPr/>
        </p:nvSpPr>
        <p:spPr>
          <a:xfrm>
            <a:off x="640080" y="6199632"/>
            <a:ext cx="10881360" cy="274320"/>
          </a:xfrm>
          <a:prstGeom prst="rect">
            <a:avLst/>
          </a:prstGeom>
          <a:noFill/>
        </p:spPr>
        <p:txBody>
          <a:bodyPr wrap="square" lIns="0" rIns="0" tIns="0" bIns="0">
            <a:spAutoFit/>
          </a:bodyPr>
          <a:lstStyle/>
          <a:p>
            <a:r>
              <a:rPr sz="950" b="0">
                <a:solidFill>
                  <a:srgbClr val="5A668F"/>
                </a:solidFill>
                <a:latin typeface="Courier New"/>
              </a:rPr>
              <a:t>PRINCESS SUMAYA UNIVERSITY FOR TECHNOLOGY (PSUT), AMMAN, JORDAN  ·  TEAM SIZE 2  ·  ahmadshadeed4321@gmail.com</a:t>
            </a:r>
          </a:p>
        </p:txBody>
      </p:sp>
      <p:sp>
        <p:nvSpPr>
          <p:cNvPr id="5" name="Rounded Rectangle 4"/>
          <p:cNvSpPr/>
          <p:nvPr/>
        </p:nvSpPr>
        <p:spPr>
          <a:xfrm>
            <a:off x="640080" y="1828800"/>
            <a:ext cx="5257800" cy="1572768"/>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14400" y="2011680"/>
            <a:ext cx="4709160" cy="292608"/>
          </a:xfrm>
          <a:prstGeom prst="rect">
            <a:avLst/>
          </a:prstGeom>
          <a:noFill/>
        </p:spPr>
        <p:txBody>
          <a:bodyPr wrap="square" lIns="0" rIns="0" tIns="0" bIns="0">
            <a:spAutoFit/>
          </a:bodyPr>
          <a:lstStyle/>
          <a:p>
            <a:r>
              <a:rPr sz="1700" b="1">
                <a:solidFill>
                  <a:srgbClr val="16204A"/>
                </a:solidFill>
                <a:latin typeface="Cambria"/>
              </a:rPr>
              <a:t>Ahmad Shadeed</a:t>
            </a:r>
          </a:p>
        </p:txBody>
      </p:sp>
      <p:sp>
        <p:nvSpPr>
          <p:cNvPr id="7" name="TextBox 6"/>
          <p:cNvSpPr txBox="1"/>
          <p:nvPr/>
        </p:nvSpPr>
        <p:spPr>
          <a:xfrm>
            <a:off x="914400" y="2350008"/>
            <a:ext cx="4709160" cy="237744"/>
          </a:xfrm>
          <a:prstGeom prst="rect">
            <a:avLst/>
          </a:prstGeom>
          <a:noFill/>
        </p:spPr>
        <p:txBody>
          <a:bodyPr wrap="square" lIns="0" rIns="0" tIns="0" bIns="0">
            <a:spAutoFit/>
          </a:bodyPr>
          <a:lstStyle/>
          <a:p>
            <a:r>
              <a:rPr sz="950" b="1">
                <a:solidFill>
                  <a:srgbClr val="B8860B"/>
                </a:solidFill>
                <a:latin typeface="Courier New"/>
              </a:rPr>
              <a:t>Team lead · Engineering</a:t>
            </a:r>
          </a:p>
        </p:txBody>
      </p:sp>
      <p:sp>
        <p:nvSpPr>
          <p:cNvPr id="8" name="TextBox 7"/>
          <p:cNvSpPr txBox="1"/>
          <p:nvPr/>
        </p:nvSpPr>
        <p:spPr>
          <a:xfrm>
            <a:off x="914400" y="2651760"/>
            <a:ext cx="4709160" cy="685800"/>
          </a:xfrm>
          <a:prstGeom prst="rect">
            <a:avLst/>
          </a:prstGeom>
          <a:noFill/>
        </p:spPr>
        <p:txBody>
          <a:bodyPr wrap="square" lIns="0" rIns="0" tIns="0" bIns="0">
            <a:spAutoFit/>
          </a:bodyPr>
          <a:lstStyle/>
          <a:p>
            <a:pPr>
              <a:lnSpc>
                <a:spcPts val="1450"/>
              </a:lnSpc>
            </a:pPr>
            <a:r>
              <a:rPr sz="1100" b="0">
                <a:solidFill>
                  <a:srgbClr val="5A668F"/>
                </a:solidFill>
                <a:latin typeface="Calibri"/>
              </a:rPr>
              <a:t>Agent and policy design, the CAMARA and Nokia Network-as-Code integration, the API surface and the evidence vault.</a:t>
            </a:r>
          </a:p>
        </p:txBody>
      </p:sp>
      <p:sp>
        <p:nvSpPr>
          <p:cNvPr id="9" name="Rounded Rectangle 8"/>
          <p:cNvSpPr/>
          <p:nvPr/>
        </p:nvSpPr>
        <p:spPr>
          <a:xfrm>
            <a:off x="6263640" y="1828800"/>
            <a:ext cx="5257800" cy="1572768"/>
          </a:xfrm>
          <a:prstGeom prst="roundRect">
            <a:avLst>
              <a:gd name="adj" fmla="val 4000"/>
            </a:avLst>
          </a:prstGeom>
          <a:solidFill>
            <a:srgbClr val="F4F6FD"/>
          </a:solidFill>
          <a:ln w="12700">
            <a:solidFill>
              <a:srgbClr val="DCE2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37959" y="2011680"/>
            <a:ext cx="4709160" cy="292608"/>
          </a:xfrm>
          <a:prstGeom prst="rect">
            <a:avLst/>
          </a:prstGeom>
          <a:noFill/>
        </p:spPr>
        <p:txBody>
          <a:bodyPr wrap="square" lIns="0" rIns="0" tIns="0" bIns="0">
            <a:spAutoFit/>
          </a:bodyPr>
          <a:lstStyle/>
          <a:p>
            <a:r>
              <a:rPr sz="1700" b="1">
                <a:solidFill>
                  <a:srgbClr val="16204A"/>
                </a:solidFill>
                <a:latin typeface="Cambria"/>
              </a:rPr>
              <a:t>Yousef Al Masri</a:t>
            </a:r>
          </a:p>
        </p:txBody>
      </p:sp>
      <p:sp>
        <p:nvSpPr>
          <p:cNvPr id="11" name="TextBox 10"/>
          <p:cNvSpPr txBox="1"/>
          <p:nvPr/>
        </p:nvSpPr>
        <p:spPr>
          <a:xfrm>
            <a:off x="6537959" y="2350008"/>
            <a:ext cx="4709160" cy="237744"/>
          </a:xfrm>
          <a:prstGeom prst="rect">
            <a:avLst/>
          </a:prstGeom>
          <a:noFill/>
        </p:spPr>
        <p:txBody>
          <a:bodyPr wrap="square" lIns="0" rIns="0" tIns="0" bIns="0">
            <a:spAutoFit/>
          </a:bodyPr>
          <a:lstStyle/>
          <a:p>
            <a:r>
              <a:rPr sz="950" b="1">
                <a:solidFill>
                  <a:srgbClr val="B8860B"/>
                </a:solidFill>
                <a:latin typeface="Courier New"/>
              </a:rPr>
              <a:t>Engineering · Co-builder</a:t>
            </a:r>
          </a:p>
        </p:txBody>
      </p:sp>
      <p:sp>
        <p:nvSpPr>
          <p:cNvPr id="12" name="TextBox 11"/>
          <p:cNvSpPr txBox="1"/>
          <p:nvPr/>
        </p:nvSpPr>
        <p:spPr>
          <a:xfrm>
            <a:off x="6537959" y="2651760"/>
            <a:ext cx="4709160" cy="685800"/>
          </a:xfrm>
          <a:prstGeom prst="rect">
            <a:avLst/>
          </a:prstGeom>
          <a:noFill/>
        </p:spPr>
        <p:txBody>
          <a:bodyPr wrap="square" lIns="0" rIns="0" tIns="0" bIns="0">
            <a:spAutoFit/>
          </a:bodyPr>
          <a:lstStyle/>
          <a:p>
            <a:pPr>
              <a:lnSpc>
                <a:spcPts val="1450"/>
              </a:lnSpc>
            </a:pPr>
            <a:r>
              <a:rPr sz="1100" b="0">
                <a:solidFill>
                  <a:srgbClr val="5A668F"/>
                </a:solidFill>
                <a:latin typeface="Calibri"/>
              </a:rPr>
              <a:t>Shares the technical build across the agent, the API, the provider integration and the test suite. Both members work across the stack; the split above describes emphasis, not ownership.</a:t>
            </a:r>
          </a:p>
        </p:txBody>
      </p:sp>
      <p:sp>
        <p:nvSpPr>
          <p:cNvPr id="13" name="TextBox 12"/>
          <p:cNvSpPr txBox="1"/>
          <p:nvPr/>
        </p:nvSpPr>
        <p:spPr>
          <a:xfrm>
            <a:off x="640080" y="3657600"/>
            <a:ext cx="10881360" cy="274320"/>
          </a:xfrm>
          <a:prstGeom prst="rect">
            <a:avLst/>
          </a:prstGeom>
          <a:noFill/>
        </p:spPr>
        <p:txBody>
          <a:bodyPr wrap="square" lIns="0" rIns="0" tIns="0" bIns="0">
            <a:spAutoFit/>
          </a:bodyPr>
          <a:lstStyle/>
          <a:p>
            <a:r>
              <a:rPr sz="900" b="1">
                <a:solidFill>
                  <a:srgbClr val="5A668F"/>
                </a:solidFill>
                <a:latin typeface="Courier New"/>
              </a:rPr>
              <a:t>WHAT THE TEAM BUILT</a:t>
            </a:r>
          </a:p>
        </p:txBody>
      </p:sp>
      <p:sp>
        <p:nvSpPr>
          <p:cNvPr id="14" name="Rounded Rectangle 13"/>
          <p:cNvSpPr/>
          <p:nvPr/>
        </p:nvSpPr>
        <p:spPr>
          <a:xfrm>
            <a:off x="530352" y="3904488"/>
            <a:ext cx="11100816" cy="402336"/>
          </a:xfrm>
          <a:prstGeom prst="roundRect">
            <a:avLst>
              <a:gd name="adj" fmla="val 4000"/>
            </a:avLst>
          </a:prstGeom>
          <a:solidFill>
            <a:srgbClr val="F4F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3950208"/>
            <a:ext cx="2834640" cy="310896"/>
          </a:xfrm>
          <a:prstGeom prst="rect">
            <a:avLst/>
          </a:prstGeom>
          <a:noFill/>
        </p:spPr>
        <p:txBody>
          <a:bodyPr wrap="square" lIns="0" rIns="0" tIns="0" bIns="0">
            <a:spAutoFit/>
          </a:bodyPr>
          <a:lstStyle/>
          <a:p>
            <a:r>
              <a:rPr sz="1200" b="1">
                <a:solidFill>
                  <a:srgbClr val="16204A"/>
                </a:solidFill>
                <a:latin typeface="Cambria"/>
              </a:rPr>
              <a:t>Agent and policy engine</a:t>
            </a:r>
          </a:p>
        </p:txBody>
      </p:sp>
      <p:sp>
        <p:nvSpPr>
          <p:cNvPr id="16" name="TextBox 15"/>
          <p:cNvSpPr txBox="1"/>
          <p:nvPr/>
        </p:nvSpPr>
        <p:spPr>
          <a:xfrm>
            <a:off x="3657600" y="3950208"/>
            <a:ext cx="7863840" cy="310896"/>
          </a:xfrm>
          <a:prstGeom prst="rect">
            <a:avLst/>
          </a:prstGeom>
          <a:noFill/>
        </p:spPr>
        <p:txBody>
          <a:bodyPr wrap="square" lIns="0" rIns="0" tIns="0" bIns="0">
            <a:spAutoFit/>
          </a:bodyPr>
          <a:lstStyle/>
          <a:p>
            <a:pPr>
              <a:lnSpc>
                <a:spcPts val="1350"/>
              </a:lnSpc>
            </a:pPr>
            <a:r>
              <a:rPr sz="1100" b="0">
                <a:solidFill>
                  <a:srgbClr val="5A668F"/>
                </a:solidFill>
                <a:latin typeface="Calibri"/>
              </a:rPr>
              <a:t>The investigator, its belief model in log-odds, and the evidence-cost surface that decides which CAMARA call is worth making next</a:t>
            </a:r>
          </a:p>
        </p:txBody>
      </p:sp>
      <p:sp>
        <p:nvSpPr>
          <p:cNvPr id="17" name="TextBox 16"/>
          <p:cNvSpPr txBox="1"/>
          <p:nvPr/>
        </p:nvSpPr>
        <p:spPr>
          <a:xfrm>
            <a:off x="640080" y="4352544"/>
            <a:ext cx="2834640" cy="310896"/>
          </a:xfrm>
          <a:prstGeom prst="rect">
            <a:avLst/>
          </a:prstGeom>
          <a:noFill/>
        </p:spPr>
        <p:txBody>
          <a:bodyPr wrap="square" lIns="0" rIns="0" tIns="0" bIns="0">
            <a:spAutoFit/>
          </a:bodyPr>
          <a:lstStyle/>
          <a:p>
            <a:r>
              <a:rPr sz="1200" b="1">
                <a:solidFill>
                  <a:srgbClr val="16204A"/>
                </a:solidFill>
                <a:latin typeface="Cambria"/>
              </a:rPr>
              <a:t>CAMARA / NaC integration</a:t>
            </a:r>
          </a:p>
        </p:txBody>
      </p:sp>
      <p:sp>
        <p:nvSpPr>
          <p:cNvPr id="18" name="TextBox 17"/>
          <p:cNvSpPr txBox="1"/>
          <p:nvPr/>
        </p:nvSpPr>
        <p:spPr>
          <a:xfrm>
            <a:off x="3657600" y="4352544"/>
            <a:ext cx="7863840" cy="310896"/>
          </a:xfrm>
          <a:prstGeom prst="rect">
            <a:avLst/>
          </a:prstGeom>
          <a:noFill/>
        </p:spPr>
        <p:txBody>
          <a:bodyPr wrap="square" lIns="0" rIns="0" tIns="0" bIns="0">
            <a:spAutoFit/>
          </a:bodyPr>
          <a:lstStyle/>
          <a:p>
            <a:pPr>
              <a:lnSpc>
                <a:spcPts val="1350"/>
              </a:lnSpc>
            </a:pPr>
            <a:r>
              <a:rPr sz="1100" b="0">
                <a:solidFill>
                  <a:srgbClr val="5A668F"/>
                </a:solidFill>
                <a:latin typeface="Calibri"/>
              </a:rPr>
              <a:t>The adapter for eight CAMARA APIs, the hosted-simulator and contract-mock paths, and the consent-gated Number Verification flow</a:t>
            </a:r>
          </a:p>
        </p:txBody>
      </p:sp>
      <p:sp>
        <p:nvSpPr>
          <p:cNvPr id="19" name="Rounded Rectangle 18"/>
          <p:cNvSpPr/>
          <p:nvPr/>
        </p:nvSpPr>
        <p:spPr>
          <a:xfrm>
            <a:off x="530352" y="4709160"/>
            <a:ext cx="11100816" cy="402336"/>
          </a:xfrm>
          <a:prstGeom prst="roundRect">
            <a:avLst>
              <a:gd name="adj" fmla="val 4000"/>
            </a:avLst>
          </a:prstGeom>
          <a:solidFill>
            <a:srgbClr val="F4F6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4754880"/>
            <a:ext cx="2834640" cy="310896"/>
          </a:xfrm>
          <a:prstGeom prst="rect">
            <a:avLst/>
          </a:prstGeom>
          <a:noFill/>
        </p:spPr>
        <p:txBody>
          <a:bodyPr wrap="square" lIns="0" rIns="0" tIns="0" bIns="0">
            <a:spAutoFit/>
          </a:bodyPr>
          <a:lstStyle/>
          <a:p>
            <a:r>
              <a:rPr sz="1200" b="1">
                <a:solidFill>
                  <a:srgbClr val="16204A"/>
                </a:solidFill>
                <a:latin typeface="Cambria"/>
              </a:rPr>
              <a:t>API and evidence vault</a:t>
            </a:r>
          </a:p>
        </p:txBody>
      </p:sp>
      <p:sp>
        <p:nvSpPr>
          <p:cNvPr id="21" name="TextBox 20"/>
          <p:cNvSpPr txBox="1"/>
          <p:nvPr/>
        </p:nvSpPr>
        <p:spPr>
          <a:xfrm>
            <a:off x="3657600" y="4754880"/>
            <a:ext cx="7863840" cy="310896"/>
          </a:xfrm>
          <a:prstGeom prst="rect">
            <a:avLst/>
          </a:prstGeom>
          <a:noFill/>
        </p:spPr>
        <p:txBody>
          <a:bodyPr wrap="square" lIns="0" rIns="0" tIns="0" bIns="0">
            <a:spAutoFit/>
          </a:bodyPr>
          <a:lstStyle/>
          <a:p>
            <a:pPr>
              <a:lnSpc>
                <a:spcPts val="1350"/>
              </a:lnSpc>
            </a:pPr>
            <a:r>
              <a:rPr sz="1100" b="0">
                <a:solidFill>
                  <a:srgbClr val="5A668F"/>
                </a:solidFill>
                <a:latin typeface="Calibri"/>
              </a:rPr>
              <a:t>Idempotent verification with replay, trust sessions with live revocation, and the Ed25519-signed chain anyone can verify offline</a:t>
            </a:r>
          </a:p>
        </p:txBody>
      </p:sp>
      <p:sp>
        <p:nvSpPr>
          <p:cNvPr id="22" name="TextBox 21"/>
          <p:cNvSpPr txBox="1"/>
          <p:nvPr/>
        </p:nvSpPr>
        <p:spPr>
          <a:xfrm>
            <a:off x="640080" y="5157216"/>
            <a:ext cx="2834640" cy="310896"/>
          </a:xfrm>
          <a:prstGeom prst="rect">
            <a:avLst/>
          </a:prstGeom>
          <a:noFill/>
        </p:spPr>
        <p:txBody>
          <a:bodyPr wrap="square" lIns="0" rIns="0" tIns="0" bIns="0">
            <a:spAutoFit/>
          </a:bodyPr>
          <a:lstStyle/>
          <a:p>
            <a:r>
              <a:rPr sz="1200" b="1">
                <a:solidFill>
                  <a:srgbClr val="16204A"/>
                </a:solidFill>
                <a:latin typeface="Cambria"/>
              </a:rPr>
              <a:t>Surfaces, tests and docs</a:t>
            </a:r>
          </a:p>
        </p:txBody>
      </p:sp>
      <p:sp>
        <p:nvSpPr>
          <p:cNvPr id="23" name="TextBox 22"/>
          <p:cNvSpPr txBox="1"/>
          <p:nvPr/>
        </p:nvSpPr>
        <p:spPr>
          <a:xfrm>
            <a:off x="3657600" y="5157216"/>
            <a:ext cx="7863840" cy="310896"/>
          </a:xfrm>
          <a:prstGeom prst="rect">
            <a:avLst/>
          </a:prstGeom>
          <a:noFill/>
        </p:spPr>
        <p:txBody>
          <a:bodyPr wrap="square" lIns="0" rIns="0" tIns="0" bIns="0">
            <a:spAutoFit/>
          </a:bodyPr>
          <a:lstStyle/>
          <a:p>
            <a:pPr>
              <a:lnSpc>
                <a:spcPts val="1350"/>
              </a:lnSpc>
            </a:pPr>
            <a:r>
              <a:rPr sz="1100" b="0">
                <a:solidFill>
                  <a:srgbClr val="5A668F"/>
                </a:solidFill>
                <a:latin typeface="Calibri"/>
              </a:rPr>
              <a:t>Judge, API-key, console, lab and receipt pages in English and Arabic, the 1,605 checks of 11 September, and this submission package</a:t>
            </a:r>
          </a:p>
        </p:txBody>
      </p:sp>
      <p:sp>
        <p:nvSpPr>
          <p:cNvPr id="24" name="Rounded Rectangle 23"/>
          <p:cNvSpPr/>
          <p:nvPr/>
        </p:nvSpPr>
        <p:spPr>
          <a:xfrm>
            <a:off x="640080" y="5623560"/>
            <a:ext cx="10881360" cy="411480"/>
          </a:xfrm>
          <a:prstGeom prst="roundRect">
            <a:avLst>
              <a:gd name="adj" fmla="val 4000"/>
            </a:avLst>
          </a:prstGeom>
          <a:solidFill>
            <a:srgbClr val="FBF6E9"/>
          </a:solidFill>
          <a:ln w="12700">
            <a:solidFill>
              <a:srgbClr val="EBDC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0120" y="5724144"/>
            <a:ext cx="10241280" cy="237744"/>
          </a:xfrm>
          <a:prstGeom prst="rect">
            <a:avLst/>
          </a:prstGeom>
          <a:noFill/>
        </p:spPr>
        <p:txBody>
          <a:bodyPr wrap="square" lIns="0" rIns="0" tIns="0" bIns="0">
            <a:spAutoFit/>
          </a:bodyPr>
          <a:lstStyle/>
          <a:p>
            <a:r>
              <a:rPr sz="1100" b="0">
                <a:solidFill>
                  <a:srgbClr val="5A668F"/>
                </a:solidFill>
                <a:latin typeface="Calibri"/>
              </a:rPr>
              <a:t>Approved tooling only: Google AI Studio (Gemini) as the single model provider. No second model, and no third-party agent framework.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70B20"/>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00" b="1" spc="240" kern="0" dirty="0">
                <a:solidFill>
                  <a:srgbClr val="FFC35C"/>
                </a:solidFill>
                <a:latin typeface="Courier New" pitchFamily="34" charset="0"/>
                <a:ea typeface="Courier New" pitchFamily="34" charset="-122"/>
                <a:cs typeface="Courier New" pitchFamily="34" charset="-120"/>
              </a:rPr>
              <a:t>WHAT WE HAVE NOT PROVEN</a:t>
            </a:r>
            <a:endParaRPr lang="en-US" sz="1100" dirty="0"/>
          </a:p>
        </p:txBody>
      </p:sp>
      <p:sp>
        <p:nvSpPr>
          <p:cNvPr id="3" name="Text 1"/>
          <p:cNvSpPr txBox="1"/>
          <p:nvPr/>
        </p:nvSpPr>
        <p:spPr>
          <a:xfrm>
            <a:off x="640080" y="868680"/>
            <a:ext cx="10881360" cy="914400"/>
          </a:xfrm>
          <a:prstGeom prst="rect">
            <a:avLst/>
          </a:prstGeom>
          <a:noFill/>
          <a:ln/>
        </p:spPr>
        <p:txBody>
          <a:bodyPr wrap="square" lIns="0" tIns="0" rIns="0" bIns="0" rtlCol="0" anchor="t"/>
          <a:lstStyle/>
          <a:p>
            <a:pPr indent="0" marL="0">
              <a:lnSpc>
                <a:spcPts val="3800"/>
              </a:lnSpc>
              <a:buNone/>
            </a:pPr>
            <a:r>
              <a:rPr lang="en-US" sz="3400" b="1" dirty="0">
                <a:solidFill>
                  <a:srgbClr val="EEF2FF"/>
                </a:solidFill>
                <a:latin typeface="Cambria" pitchFamily="34" charset="0"/>
                <a:ea typeface="Cambria" pitchFamily="34" charset="-122"/>
                <a:cs typeface="Cambria" pitchFamily="34" charset="-120"/>
              </a:rPr>
              <a:t>Named, because provenance cuts both ways.</a:t>
            </a:r>
            <a:endParaRPr lang="en-US" sz="3400" dirty="0"/>
          </a:p>
        </p:txBody>
      </p:sp>
      <p:sp>
        <p:nvSpPr>
          <p:cNvPr id="4" name="Text 2"/>
          <p:cNvSpPr txBox="1"/>
          <p:nvPr/>
        </p:nvSpPr>
        <p:spPr>
          <a:xfrm>
            <a:off x="640080" y="2029968"/>
            <a:ext cx="10881360" cy="2011680"/>
          </a:xfrm>
          <a:prstGeom prst="rect">
            <a:avLst/>
          </a:prstGeom>
          <a:noFill/>
          <a:ln/>
        </p:spPr>
        <p:txBody>
          <a:bodyPr wrap="square" lIns="0" tIns="0" rIns="0" bIns="0" rtlCol="0" anchor="t"/>
          <a:lstStyle/>
          <a:p>
            <a:pPr marL="342900" indent="-342900">
              <a:lnSpc>
                <a:spcPts val="2200"/>
              </a:lnSpc>
              <a:spcAft>
                <a:spcPts val="800"/>
              </a:spcAft>
              <a:buSzPct val="100000"/>
              <a:buChar char="•"/>
            </a:pPr>
            <a:r>
              <a:rPr lang="en-US" sz="1400" dirty="0">
                <a:solidFill>
                  <a:srgbClr val="AAB5D4"/>
                </a:solidFill>
                <a:latin typeface="Calibri" pitchFamily="34" charset="0"/>
                <a:ea typeface="Calibri" pitchFamily="34" charset="-122"/>
                <a:cs typeface="Calibri" pitchFamily="34" charset="-120"/>
              </a:rPr>
              <a:t>No physical handset has completed an operator consent round trip — the flow is contract-tested against a local fake operator, not a real SIM</a:t>
            </a:r>
            <a:endParaRPr lang="en-US" sz="1400" dirty="0"/>
          </a:p>
          <a:p>
            <a:pPr marL="342900" indent="-342900">
              <a:lnSpc>
                <a:spcPts val="2200"/>
              </a:lnSpc>
              <a:spcAft>
                <a:spcPts val="800"/>
              </a:spcAft>
              <a:buSzPct val="100000"/>
              <a:buChar char="•"/>
            </a:pPr>
            <a:r>
              <a:rPr lang="en-US" sz="1400" dirty="0">
                <a:solidFill>
                  <a:srgbClr val="AAB5D4"/>
                </a:solidFill>
                <a:latin typeface="Calibri" pitchFamily="34" charset="0"/>
                <a:ea typeface="Calibri" pitchFamily="34" charset="-122"/>
                <a:cs typeface="Calibri" pitchFamily="34" charset="-120"/>
              </a:rPr>
              <a:t>No Nokia congestion subscription has been created and no callback delivery observed. The deployed callback base is registered and its mock lifecycle passes — that proves configuration, not operator acceptance</a:t>
            </a:r>
            <a:endParaRPr lang="en-US" sz="1400" dirty="0"/>
          </a:p>
          <a:p>
            <a:pPr marL="342900" indent="-342900">
              <a:lnSpc>
                <a:spcPts val="2200"/>
              </a:lnSpc>
              <a:spcAft>
                <a:spcPts val="800"/>
              </a:spcAft>
              <a:buSzPct val="100000"/>
              <a:buChar char="•"/>
            </a:pPr>
            <a:r>
              <a:rPr lang="en-US" sz="1400" dirty="0">
                <a:solidFill>
                  <a:srgbClr val="AAB5D4"/>
                </a:solidFill>
                <a:latin typeface="Calibri" pitchFamily="34" charset="0"/>
                <a:ea typeface="Calibri" pitchFamily="34" charset="-122"/>
                <a:cs typeface="Calibri" pitchFamily="34" charset="-120"/>
              </a:rPr>
              <a:t>The risk score is uncalibrated. No real fraud outcomes exist to calibrate it against, and we will not invent any</a:t>
            </a:r>
            <a:endParaRPr lang="en-US" sz="1400" dirty="0"/>
          </a:p>
          <a:p>
            <a:pPr marL="342900" indent="-342900">
              <a:lnSpc>
                <a:spcPts val="2200"/>
              </a:lnSpc>
              <a:spcAft>
                <a:spcPts val="800"/>
              </a:spcAft>
              <a:buSzPct val="100000"/>
              <a:buChar char="•"/>
            </a:pPr>
            <a:r>
              <a:rPr lang="en-US" sz="1400" dirty="0">
                <a:solidFill>
                  <a:srgbClr val="AAB5D4"/>
                </a:solidFill>
                <a:latin typeface="Calibri" pitchFamily="34" charset="0"/>
                <a:ea typeface="Calibri" pitchFamily="34" charset="-122"/>
                <a:cs typeface="Calibri" pitchFamily="34" charset="-120"/>
              </a:rPr>
              <a:t>No independent reviewer has walked through the deployed build; the 9 September checks were run by this project's own agent</a:t>
            </a:r>
            <a:endParaRPr lang="en-US" sz="1400" dirty="0"/>
          </a:p>
        </p:txBody>
      </p:sp>
      <p:sp>
        <p:nvSpPr>
          <p:cNvPr id="5" name="Shape 3"/>
          <p:cNvSpPr/>
          <p:nvPr/>
        </p:nvSpPr>
        <p:spPr>
          <a:xfrm>
            <a:off x="640080" y="4160520"/>
            <a:ext cx="10881360" cy="1371600"/>
          </a:xfrm>
          <a:prstGeom prst="roundRect">
            <a:avLst>
              <a:gd name="adj" fmla="val 6000"/>
            </a:avLst>
          </a:prstGeom>
          <a:solidFill>
            <a:srgbClr val="0C1230"/>
          </a:solidFill>
          <a:ln w="12700">
            <a:solidFill>
              <a:srgbClr val="2D3B70"/>
            </a:solidFill>
            <a:prstDash val="solid"/>
          </a:ln>
        </p:spPr>
        <p:txBody>
          <a:bodyPr/>
          <a:p/>
        </p:txBody>
      </p:sp>
      <p:sp>
        <p:nvSpPr>
          <p:cNvPr id="6" name="Text 4"/>
          <p:cNvSpPr txBox="1"/>
          <p:nvPr/>
        </p:nvSpPr>
        <p:spPr>
          <a:xfrm>
            <a:off x="960120" y="4206240"/>
            <a:ext cx="10241280" cy="292608"/>
          </a:xfrm>
          <a:prstGeom prst="rect">
            <a:avLst/>
          </a:prstGeom>
          <a:noFill/>
          <a:ln/>
        </p:spPr>
        <p:txBody>
          <a:bodyPr wrap="square" lIns="0" tIns="0" rIns="0" bIns="0" rtlCol="0" anchor="ctr"/>
          <a:lstStyle/>
          <a:p>
            <a:pPr indent="0" marL="0">
              <a:buNone/>
            </a:pPr>
            <a:r>
              <a:rPr lang="en-US" sz="1200" b="1" dirty="0">
                <a:solidFill>
                  <a:srgbClr val="FFC35C"/>
                </a:solidFill>
                <a:latin typeface="Courier New" pitchFamily="34" charset="0"/>
                <a:ea typeface="Courier New" pitchFamily="34" charset="-122"/>
                <a:cs typeface="Courier New" pitchFamily="34" charset="-120"/>
              </a:rPr>
              <a:t>Every demo row is stamped  SIMULATOR · mock fixture</a:t>
            </a:r>
            <a:endParaRPr lang="en-US" sz="1200" dirty="0"/>
          </a:p>
        </p:txBody>
      </p:sp>
      <p:sp>
        <p:nvSpPr>
          <p:cNvPr id="7" name="Text 5"/>
          <p:cNvSpPr txBox="1"/>
          <p:nvPr/>
        </p:nvSpPr>
        <p:spPr>
          <a:xfrm>
            <a:off x="960120" y="4562856"/>
            <a:ext cx="10241280" cy="640080"/>
          </a:xfrm>
          <a:prstGeom prst="rect">
            <a:avLst/>
          </a:prstGeom>
          <a:noFill/>
          <a:ln/>
        </p:spPr>
        <p:txBody>
          <a:bodyPr wrap="square" lIns="0" tIns="0" rIns="0" bIns="0" rtlCol="0" anchor="ctr"/>
          <a:lstStyle/>
          <a:p>
            <a:pPr indent="0" marL="0">
              <a:lnSpc>
                <a:spcPts val="1800"/>
              </a:lnSpc>
              <a:buNone/>
            </a:pPr>
            <a:r>
              <a:rPr lang="en-US" sz="1250" dirty="0">
                <a:solidFill>
                  <a:srgbClr val="AAB5D4"/>
                </a:solidFill>
                <a:latin typeface="Calibri" pitchFamily="34" charset="0"/>
                <a:ea typeface="Calibri" pitchFamily="34" charset="-122"/>
                <a:cs typeface="Calibri" pitchFamily="34" charset="-120"/>
              </a:rPr>
              <a:t>A signed mock receipt is still mock, and the receipt page says so. Mock and Nokia share the interface, the sentence vocabulary and the contract tests — the answers are ours, and they are labelled.</a:t>
            </a:r>
            <a:endParaRPr lang="en-US" sz="1250" dirty="0"/>
          </a:p>
        </p:txBody>
      </p:sp>
      <p:sp>
        <p:nvSpPr>
          <p:cNvPr id="8" name="Text 6"/>
          <p:cNvSpPr txBox="1"/>
          <p:nvPr/>
        </p:nvSpPr>
        <p:spPr>
          <a:xfrm>
            <a:off x="640080" y="5623560"/>
            <a:ext cx="10881360" cy="365760"/>
          </a:xfrm>
          <a:prstGeom prst="rect">
            <a:avLst/>
          </a:prstGeom>
          <a:noFill/>
          <a:ln/>
        </p:spPr>
        <p:txBody>
          <a:bodyPr wrap="square" lIns="0" tIns="0" rIns="0" bIns="0" rtlCol="0" anchor="ctr"/>
          <a:lstStyle/>
          <a:p>
            <a:pPr indent="0" marL="0">
              <a:buNone/>
            </a:pPr>
            <a:r>
              <a:rPr lang="en-US" sz="1250" b="1" dirty="0">
                <a:solidFill>
                  <a:srgbClr val="EEF2FF"/>
                </a:solidFill>
                <a:latin typeface="Calibri" pitchFamily="34" charset="0"/>
                <a:ea typeface="Calibri" pitchFamily="34" charset="-122"/>
                <a:cs typeface="Calibri" pitchFamily="34" charset="-120"/>
              </a:rPr>
              <a:t>What we need next:  a supported subscriber for the operator consent flow, a Nokia congestion subscription with an observed callback delivery, then a merchant's outcome data to calibrate against.</a:t>
            </a:r>
            <a:endParaRPr lang="en-US" sz="1250" dirty="0"/>
          </a:p>
        </p:txBody>
      </p:sp>
      <p:sp>
        <p:nvSpPr>
          <p:cNvPr id="9" name="Text 7"/>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AAB5D4"/>
                </a:solidFill>
                <a:latin typeface="Courier New" pitchFamily="34" charset="0"/>
                <a:ea typeface="Courier New" pitchFamily="34" charset="-122"/>
                <a:cs typeface="Courier New" pitchFamily="34" charset="-120"/>
              </a:rPr>
              <a:t>ISNAD  ·  THEME 4  ·  HONEST LIMITS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70B20"/>
        </a:solidFill>
      </p:bgPr>
    </p:bg>
    <p:spTree>
      <p:nvGrpSpPr>
        <p:cNvPr id="1" name=""/>
        <p:cNvGrpSpPr/>
        <p:nvPr/>
      </p:nvGrpSpPr>
      <p:grpSpPr>
        <a:xfrm>
          <a:off x="0" y="0"/>
          <a:ext cx="0" cy="0"/>
          <a:chOff x="0" y="0"/>
          <a:chExt cx="0" cy="0"/>
        </a:xfrm>
      </p:grpSpPr>
      <p:sp>
        <p:nvSpPr>
          <p:cNvPr id="2" name="Text 0"/>
          <p:cNvSpPr txBox="1"/>
          <p:nvPr/>
        </p:nvSpPr>
        <p:spPr>
          <a:xfrm>
            <a:off x="640080" y="1371600"/>
            <a:ext cx="7315200" cy="640080"/>
          </a:xfrm>
          <a:prstGeom prst="rect">
            <a:avLst/>
          </a:prstGeom>
          <a:noFill/>
          <a:ln/>
        </p:spPr>
        <p:txBody>
          <a:bodyPr wrap="square" lIns="0" tIns="0" rIns="0" bIns="0" rtlCol="0" anchor="ctr"/>
          <a:lstStyle/>
          <a:p>
            <a:pPr indent="0" marL="0">
              <a:buNone/>
            </a:pPr>
            <a:r>
              <a:rPr lang="en-US" sz="3400" dirty="0">
                <a:solidFill>
                  <a:srgbClr val="E5BB59"/>
                </a:solidFill>
                <a:latin typeface="Calibri" pitchFamily="34" charset="0"/>
                <a:ea typeface="Calibri" pitchFamily="34" charset="-122"/>
                <a:cs typeface="Calibri" pitchFamily="34" charset="-120"/>
              </a:rPr>
              <a:t>إسناد</a:t>
            </a:r>
            <a:pPr indent="0" marL="0">
              <a:buNone/>
            </a:pPr>
            <a:r>
              <a:rPr lang="en-US" sz="3400" b="1" dirty="0">
                <a:solidFill>
                  <a:srgbClr val="EEF2FF"/>
                </a:solidFill>
                <a:latin typeface="Cambria" pitchFamily="34" charset="0"/>
                <a:ea typeface="Cambria" pitchFamily="34" charset="-122"/>
                <a:cs typeface="Cambria" pitchFamily="34" charset="-120"/>
              </a:rPr>
              <a:t>   Isnad</a:t>
            </a:r>
            <a:endParaRPr lang="en-US" sz="3400" dirty="0"/>
          </a:p>
        </p:txBody>
      </p:sp>
      <p:sp>
        <p:nvSpPr>
          <p:cNvPr id="3" name="Text 1"/>
          <p:cNvSpPr txBox="1"/>
          <p:nvPr/>
        </p:nvSpPr>
        <p:spPr>
          <a:xfrm>
            <a:off x="640080" y="2194560"/>
            <a:ext cx="10515600" cy="640080"/>
          </a:xfrm>
          <a:prstGeom prst="rect">
            <a:avLst/>
          </a:prstGeom>
          <a:noFill/>
          <a:ln/>
        </p:spPr>
        <p:txBody>
          <a:bodyPr wrap="square" lIns="0" tIns="0" rIns="0" bIns="0" rtlCol="0" anchor="ctr"/>
          <a:lstStyle/>
          <a:p>
            <a:pPr indent="0" marL="0">
              <a:buNone/>
            </a:pPr>
            <a:r>
              <a:rPr lang="en-US" sz="3600" b="1" dirty="0">
                <a:solidFill>
                  <a:srgbClr val="EEF2FF"/>
                </a:solidFill>
                <a:latin typeface="Cambria" pitchFamily="34" charset="0"/>
                <a:ea typeface="Cambria" pitchFamily="34" charset="-122"/>
                <a:cs typeface="Cambria" pitchFamily="34" charset="-120"/>
              </a:rPr>
              <a:t>The internet never got its isnad.</a:t>
            </a:r>
            <a:endParaRPr lang="en-US" sz="3600" dirty="0"/>
          </a:p>
        </p:txBody>
      </p:sp>
      <p:sp>
        <p:nvSpPr>
          <p:cNvPr id="4" name="Text 2"/>
          <p:cNvSpPr txBox="1"/>
          <p:nvPr/>
        </p:nvSpPr>
        <p:spPr>
          <a:xfrm>
            <a:off x="640080" y="2788920"/>
            <a:ext cx="10515600" cy="640080"/>
          </a:xfrm>
          <a:prstGeom prst="rect">
            <a:avLst/>
          </a:prstGeom>
          <a:noFill/>
          <a:ln/>
        </p:spPr>
        <p:txBody>
          <a:bodyPr wrap="square" lIns="0" tIns="0" rIns="0" bIns="0" rtlCol="0" anchor="ctr"/>
          <a:lstStyle/>
          <a:p>
            <a:pPr indent="0" marL="0">
              <a:buNone/>
            </a:pPr>
            <a:r>
              <a:rPr lang="en-US" sz="3600" b="1" dirty="0">
                <a:solidFill>
                  <a:srgbClr val="AAB5D4"/>
                </a:solidFill>
                <a:latin typeface="Cambria" pitchFamily="34" charset="0"/>
                <a:ea typeface="Cambria" pitchFamily="34" charset="-122"/>
                <a:cs typeface="Cambria" pitchFamily="34" charset="-120"/>
              </a:rPr>
              <a:t>Every verdict this engine issues is one.</a:t>
            </a:r>
            <a:endParaRPr lang="en-US" sz="3600" dirty="0"/>
          </a:p>
        </p:txBody>
      </p:sp>
      <p:sp>
        <p:nvSpPr>
          <p:cNvPr id="5" name="Shape 3"/>
          <p:cNvSpPr/>
          <p:nvPr/>
        </p:nvSpPr>
        <p:spPr>
          <a:xfrm>
            <a:off x="640080" y="3749040"/>
            <a:ext cx="6583680" cy="1371600"/>
          </a:xfrm>
          <a:prstGeom prst="roundRect">
            <a:avLst>
              <a:gd name="adj" fmla="val 6000"/>
            </a:avLst>
          </a:prstGeom>
          <a:solidFill>
            <a:srgbClr val="0C1230"/>
          </a:solidFill>
          <a:ln w="12700">
            <a:solidFill>
              <a:srgbClr val="2D3B70"/>
            </a:solidFill>
            <a:prstDash val="solid"/>
          </a:ln>
        </p:spPr>
        <p:txBody>
          <a:bodyPr/>
          <a:p/>
        </p:txBody>
      </p:sp>
      <p:sp>
        <p:nvSpPr>
          <p:cNvPr id="6" name="Text 4"/>
          <p:cNvSpPr txBox="1"/>
          <p:nvPr/>
        </p:nvSpPr>
        <p:spPr>
          <a:xfrm>
            <a:off x="960120" y="3858768"/>
            <a:ext cx="6035040" cy="1188720"/>
          </a:xfrm>
          <a:prstGeom prst="rect">
            <a:avLst/>
          </a:prstGeom>
          <a:noFill/>
          <a:ln/>
        </p:spPr>
        <p:txBody>
          <a:bodyPr wrap="square" lIns="0" tIns="0" rIns="0" bIns="0" rtlCol="0" anchor="ctr"/>
          <a:lstStyle/>
          <a:p>
            <a:pPr indent="0" marL="0">
              <a:lnSpc>
                <a:spcPts val="1800"/>
              </a:lnSpc>
              <a:buNone/>
            </a:pPr>
            <a:r>
              <a:rPr sz="1100" b="0">
                <a:solidFill>
                  <a:srgbClr val="AAB5D4"/>
                </a:solidFill>
                <a:latin typeface="Calibri"/>
              </a:rPr>
              <a:t>Try it now, nothing to install</a:t>
            </a:r>
            <a:endParaRPr lang="en-US" sz="1400" dirty="0"/>
          </a:p>
          <a:p>
            <a:pPr>
              <a:lnSpc>
                <a:spcPts val="1800"/>
              </a:lnSpc>
            </a:pPr>
            <a:r>
              <a:rPr sz="1350" b="1">
                <a:solidFill>
                  <a:srgbClr val="E5BB59"/>
                </a:solidFill>
                <a:latin typeface="Courier New"/>
              </a:rPr>
              <a:t>ahmadshadeed32-isnad-trust-engine.hf.space/judge</a:t>
            </a:r>
          </a:p>
          <a:p>
            <a:pPr>
              <a:lnSpc>
                <a:spcPts val="1800"/>
              </a:lnSpc>
            </a:pPr>
            <a:r>
              <a:rPr sz="1100" b="0">
                <a:solidFill>
                  <a:srgbClr val="E5BB59"/>
                </a:solidFill>
                <a:latin typeface="Courier New"/>
              </a:rPr>
              <a:t>…/api-keys  —  mint a merchant key and call /v1/verify yourself</a:t>
            </a:r>
          </a:p>
          <a:p>
            <a:pPr>
              <a:lnSpc>
                <a:spcPts val="1800"/>
              </a:lnSpc>
            </a:pPr>
            <a:r>
              <a:rPr sz="1100" b="0">
                <a:solidFill>
                  <a:srgbClr val="AAB5D4"/>
                </a:solidFill>
                <a:latin typeface="Courier New"/>
              </a:rPr>
              <a:t>git clone github.com/AhmadShadeed32/isnad  ·  make setup &amp;&amp; make judge</a:t>
            </a:r>
          </a:p>
        </p:txBody>
      </p:sp>
      <p:sp>
        <p:nvSpPr>
          <p:cNvPr id="7" name="Text 5"/>
          <p:cNvSpPr txBox="1"/>
          <p:nvPr/>
        </p:nvSpPr>
        <p:spPr>
          <a:xfrm>
            <a:off x="7680960" y="3931920"/>
            <a:ext cx="3840480" cy="1097280"/>
          </a:xfrm>
          <a:prstGeom prst="rect">
            <a:avLst/>
          </a:prstGeom>
          <a:noFill/>
          <a:ln/>
        </p:spPr>
        <p:txBody>
          <a:bodyPr wrap="square" lIns="0" tIns="0" rIns="0" bIns="0" rtlCol="0" anchor="ctr"/>
          <a:lstStyle/>
          <a:p>
            <a:pPr indent="0" marL="0">
              <a:lnSpc>
                <a:spcPts val="1800"/>
              </a:lnSpc>
              <a:buNone/>
            </a:pPr>
            <a:r>
              <a:rPr lang="en-US" sz="1200" b="1" dirty="0">
                <a:solidFill>
                  <a:srgbClr val="EEF2FF"/>
                </a:solidFill>
                <a:latin typeface="Calibri" pitchFamily="34" charset="0"/>
                <a:ea typeface="Calibri" pitchFamily="34" charset="-122"/>
                <a:cs typeface="Calibri" pitchFamily="34" charset="-120"/>
              </a:rPr>
              <a:t>Ahmad Shadeed</a:t>
            </a:r>
            <a:pPr indent="0" marL="0">
              <a:lnSpc>
                <a:spcPts val="1800"/>
              </a:lnSpc>
              <a:buNone/>
            </a:pPr>
            <a:r>
              <a:rPr lang="en-US" sz="1200" dirty="0">
                <a:solidFill>
                  <a:srgbClr val="AAB5D4"/>
                </a:solidFill>
                <a:latin typeface="Calibri" pitchFamily="34" charset="0"/>
                <a:ea typeface="Calibri" pitchFamily="34" charset="-122"/>
                <a:cs typeface="Calibri" pitchFamily="34" charset="-120"/>
              </a:rPr>
              <a:t>  ·  Yousef Al Masri
</a:t>
            </a:r>
            <a:pPr indent="0" marL="0">
              <a:lnSpc>
                <a:spcPts val="1800"/>
              </a:lnSpc>
              <a:buNone/>
            </a:pPr>
            <a:r>
              <a:rPr lang="en-US" sz="1200" dirty="0">
                <a:solidFill>
                  <a:srgbClr val="AAB5D4"/>
                </a:solidFill>
                <a:latin typeface="Calibri" pitchFamily="34" charset="0"/>
                <a:ea typeface="Calibri" pitchFamily="34" charset="-122"/>
                <a:cs typeface="Calibri" pitchFamily="34" charset="-120"/>
              </a:rPr>
              <a:t>ahmadshadeed4321@gmail.com
</a:t>
            </a:r>
            <a:pPr indent="0" marL="0">
              <a:lnSpc>
                <a:spcPts val="1800"/>
              </a:lnSpc>
              <a:buNone/>
            </a:pPr>
            <a:r>
              <a:rPr lang="en-US" sz="1200" dirty="0">
                <a:solidFill>
                  <a:srgbClr val="AAB5D4"/>
                </a:solidFill>
                <a:latin typeface="Calibri" pitchFamily="34" charset="0"/>
                <a:ea typeface="Calibri" pitchFamily="34" charset="-122"/>
                <a:cs typeface="Calibri" pitchFamily="34" charset="-120"/>
              </a:rPr>
              <a:t>Princess Sumaya University for Technology, Amman</a:t>
            </a:r>
            <a:endParaRPr lang="en-US" sz="1200" dirty="0"/>
          </a:p>
        </p:txBody>
      </p:sp>
      <p:sp>
        <p:nvSpPr>
          <p:cNvPr id="8" name="Text 6"/>
          <p:cNvSpPr txBox="1"/>
          <p:nvPr/>
        </p:nvSpPr>
        <p:spPr>
          <a:xfrm>
            <a:off x="640080" y="6199632"/>
            <a:ext cx="10881360" cy="274320"/>
          </a:xfrm>
          <a:prstGeom prst="rect">
            <a:avLst/>
          </a:prstGeom>
          <a:noFill/>
          <a:ln/>
        </p:spPr>
        <p:txBody>
          <a:bodyPr wrap="square" lIns="0" tIns="0" rIns="0" bIns="0" rtlCol="0" anchor="ctr"/>
          <a:lstStyle/>
          <a:p>
            <a:pPr indent="0" marL="0">
              <a:buNone/>
            </a:pPr>
            <a:r>
              <a:rPr lang="en-US" sz="950" spc="120" kern="0" dirty="0">
                <a:solidFill>
                  <a:srgbClr val="AAB5D4"/>
                </a:solidFill>
                <a:latin typeface="Courier New" pitchFamily="34" charset="0"/>
                <a:ea typeface="Courier New" pitchFamily="34" charset="-122"/>
                <a:cs typeface="Courier New" pitchFamily="34" charset="-120"/>
              </a:rPr>
              <a:t>MENA IGNITE HACKATHON 2026  ·  THEME 4  ·  TEAM ISNAD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Princess Sumaya University for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Isnad — Agentic Network Trust Engine</dc:title>
  <dc:subject>PptxGenJS Presentation</dc:subject>
  <dc:creator>Team Isnad</dc:creator>
  <cp:lastModifiedBy>Team Isnad</cp:lastModifiedBy>
  <cp:revision>1</cp:revision>
  <dcterms:created xsi:type="dcterms:W3CDTF">2026-09-07T08:23:20Z</dcterms:created>
  <dcterms:modified xsi:type="dcterms:W3CDTF">2026-09-07T08:23:20Z</dcterms:modified>
</cp:coreProperties>
</file>